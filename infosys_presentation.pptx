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8288000" cy="10287000"/>
  <p:notesSz cx="6858000" cy="9144000"/>
  <p:embeddedFontLst>
    <p:embeddedFont>
      <p:font typeface="Abhaya Libre" panose="020B0604020202020204" charset="0"/>
      <p:regular r:id="rId11"/>
    </p:embeddedFont>
    <p:embeddedFont>
      <p:font typeface="Abhaya Libre Bold" panose="020B0604020202020204" charset="0"/>
      <p:regular r:id="rId12"/>
    </p:embeddedFont>
    <p:embeddedFont>
      <p:font typeface="Alatsi" panose="020B0604020202020204" charset="0"/>
      <p:regular r:id="rId13"/>
    </p:embeddedFont>
    <p:embeddedFont>
      <p:font typeface="Canva Sans" panose="020B0604020202020204" charset="0"/>
      <p:regular r:id="rId14"/>
    </p:embeddedFont>
    <p:embeddedFont>
      <p:font typeface="Canva Sans Bold" panose="020B0604020202020204" charset="0"/>
      <p:regular r:id="rId15"/>
    </p:embeddedFont>
    <p:embeddedFont>
      <p:font typeface="Girassol" panose="020B0604020202020204" charset="0"/>
      <p:regular r:id="rId16"/>
    </p:embeddedFont>
    <p:embeddedFont>
      <p:font typeface="Libre Baskerville" panose="02000000000000000000" pitchFamily="2" charset="0"/>
      <p:regular r:id="rId17"/>
    </p:embeddedFont>
    <p:embeddedFont>
      <p:font typeface="Open Sans Bold" panose="020B0604020202020204" charset="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39" d="100"/>
          <a:sy n="39" d="100"/>
        </p:scale>
        <p:origin x="940"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svg"/><Relationship Id="rId7"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 Id="rId9"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grpSp>
        <p:nvGrpSpPr>
          <p:cNvPr id="2" name="Group 2"/>
          <p:cNvGrpSpPr/>
          <p:nvPr/>
        </p:nvGrpSpPr>
        <p:grpSpPr>
          <a:xfrm>
            <a:off x="-31071" y="0"/>
            <a:ext cx="4239083" cy="10287000"/>
            <a:chOff x="0" y="0"/>
            <a:chExt cx="5652111" cy="13716000"/>
          </a:xfrm>
        </p:grpSpPr>
        <p:grpSp>
          <p:nvGrpSpPr>
            <p:cNvPr id="3" name="Group 3"/>
            <p:cNvGrpSpPr/>
            <p:nvPr/>
          </p:nvGrpSpPr>
          <p:grpSpPr>
            <a:xfrm>
              <a:off x="2826056" y="0"/>
              <a:ext cx="2826056" cy="13716000"/>
              <a:chOff x="0" y="0"/>
              <a:chExt cx="558233" cy="2709333"/>
            </a:xfrm>
          </p:grpSpPr>
          <p:sp>
            <p:nvSpPr>
              <p:cNvPr id="4" name="Freeform 4"/>
              <p:cNvSpPr/>
              <p:nvPr/>
            </p:nvSpPr>
            <p:spPr>
              <a:xfrm>
                <a:off x="0" y="0"/>
                <a:ext cx="558233" cy="2709333"/>
              </a:xfrm>
              <a:custGeom>
                <a:avLst/>
                <a:gdLst/>
                <a:ahLst/>
                <a:cxnLst/>
                <a:rect l="l" t="t" r="r" b="b"/>
                <a:pathLst>
                  <a:path w="558233" h="2709333">
                    <a:moveTo>
                      <a:pt x="0" y="0"/>
                    </a:moveTo>
                    <a:lnTo>
                      <a:pt x="558233" y="0"/>
                    </a:lnTo>
                    <a:lnTo>
                      <a:pt x="558233" y="2709333"/>
                    </a:lnTo>
                    <a:lnTo>
                      <a:pt x="0" y="2709333"/>
                    </a:lnTo>
                    <a:close/>
                  </a:path>
                </a:pathLst>
              </a:custGeom>
              <a:solidFill>
                <a:srgbClr val="E9E0D9"/>
              </a:solidFill>
            </p:spPr>
          </p:sp>
          <p:sp>
            <p:nvSpPr>
              <p:cNvPr id="5" name="TextBox 5"/>
              <p:cNvSpPr txBox="1"/>
              <p:nvPr/>
            </p:nvSpPr>
            <p:spPr>
              <a:xfrm>
                <a:off x="0" y="-47625"/>
                <a:ext cx="558233" cy="2756958"/>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413028" y="0"/>
              <a:ext cx="2826056" cy="13716000"/>
              <a:chOff x="0" y="0"/>
              <a:chExt cx="558233" cy="2709333"/>
            </a:xfrm>
          </p:grpSpPr>
          <p:sp>
            <p:nvSpPr>
              <p:cNvPr id="7" name="Freeform 7"/>
              <p:cNvSpPr/>
              <p:nvPr/>
            </p:nvSpPr>
            <p:spPr>
              <a:xfrm>
                <a:off x="0" y="0"/>
                <a:ext cx="558233" cy="2709333"/>
              </a:xfrm>
              <a:custGeom>
                <a:avLst/>
                <a:gdLst/>
                <a:ahLst/>
                <a:cxnLst/>
                <a:rect l="l" t="t" r="r" b="b"/>
                <a:pathLst>
                  <a:path w="558233" h="2709333">
                    <a:moveTo>
                      <a:pt x="0" y="0"/>
                    </a:moveTo>
                    <a:lnTo>
                      <a:pt x="558233" y="0"/>
                    </a:lnTo>
                    <a:lnTo>
                      <a:pt x="558233" y="2709333"/>
                    </a:lnTo>
                    <a:lnTo>
                      <a:pt x="0" y="2709333"/>
                    </a:lnTo>
                    <a:close/>
                  </a:path>
                </a:pathLst>
              </a:custGeom>
              <a:solidFill>
                <a:srgbClr val="9FC3D0"/>
              </a:solidFill>
            </p:spPr>
          </p:sp>
          <p:sp>
            <p:nvSpPr>
              <p:cNvPr id="8" name="TextBox 8"/>
              <p:cNvSpPr txBox="1"/>
              <p:nvPr/>
            </p:nvSpPr>
            <p:spPr>
              <a:xfrm>
                <a:off x="0" y="-47625"/>
                <a:ext cx="558233" cy="2756958"/>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0" y="0"/>
              <a:ext cx="2826056" cy="13716000"/>
              <a:chOff x="0" y="0"/>
              <a:chExt cx="558233" cy="2709333"/>
            </a:xfrm>
          </p:grpSpPr>
          <p:sp>
            <p:nvSpPr>
              <p:cNvPr id="10" name="Freeform 10"/>
              <p:cNvSpPr/>
              <p:nvPr/>
            </p:nvSpPr>
            <p:spPr>
              <a:xfrm>
                <a:off x="0" y="0"/>
                <a:ext cx="558233" cy="2709333"/>
              </a:xfrm>
              <a:custGeom>
                <a:avLst/>
                <a:gdLst/>
                <a:ahLst/>
                <a:cxnLst/>
                <a:rect l="l" t="t" r="r" b="b"/>
                <a:pathLst>
                  <a:path w="558233" h="2709333">
                    <a:moveTo>
                      <a:pt x="0" y="0"/>
                    </a:moveTo>
                    <a:lnTo>
                      <a:pt x="558233" y="0"/>
                    </a:lnTo>
                    <a:lnTo>
                      <a:pt x="558233" y="2709333"/>
                    </a:lnTo>
                    <a:lnTo>
                      <a:pt x="0" y="2709333"/>
                    </a:lnTo>
                    <a:close/>
                  </a:path>
                </a:pathLst>
              </a:custGeom>
              <a:solidFill>
                <a:srgbClr val="E9C7C6"/>
              </a:solidFill>
            </p:spPr>
          </p:sp>
          <p:sp>
            <p:nvSpPr>
              <p:cNvPr id="11" name="TextBox 11"/>
              <p:cNvSpPr txBox="1"/>
              <p:nvPr/>
            </p:nvSpPr>
            <p:spPr>
              <a:xfrm>
                <a:off x="0" y="-47625"/>
                <a:ext cx="558233" cy="2756958"/>
              </a:xfrm>
              <a:prstGeom prst="rect">
                <a:avLst/>
              </a:prstGeom>
            </p:spPr>
            <p:txBody>
              <a:bodyPr lIns="50800" tIns="50800" rIns="50800" bIns="50800" rtlCol="0" anchor="ctr"/>
              <a:lstStyle/>
              <a:p>
                <a:pPr algn="ctr">
                  <a:lnSpc>
                    <a:spcPts val="2659"/>
                  </a:lnSpc>
                </a:pPr>
                <a:endParaRPr/>
              </a:p>
            </p:txBody>
          </p:sp>
        </p:grpSp>
      </p:grpSp>
      <p:sp>
        <p:nvSpPr>
          <p:cNvPr id="12" name="TextBox 12"/>
          <p:cNvSpPr txBox="1"/>
          <p:nvPr/>
        </p:nvSpPr>
        <p:spPr>
          <a:xfrm>
            <a:off x="4208013" y="2357584"/>
            <a:ext cx="13530605" cy="2452155"/>
          </a:xfrm>
          <a:prstGeom prst="rect">
            <a:avLst/>
          </a:prstGeom>
        </p:spPr>
        <p:txBody>
          <a:bodyPr lIns="0" tIns="0" rIns="0" bIns="0" rtlCol="0" anchor="t">
            <a:spAutoFit/>
          </a:bodyPr>
          <a:lstStyle/>
          <a:p>
            <a:pPr algn="ctr">
              <a:lnSpc>
                <a:spcPts val="9313"/>
              </a:lnSpc>
            </a:pPr>
            <a:r>
              <a:rPr lang="en-US" sz="9601">
                <a:solidFill>
                  <a:srgbClr val="000000"/>
                </a:solidFill>
                <a:latin typeface="Girassol"/>
                <a:ea typeface="Girassol"/>
                <a:cs typeface="Girassol"/>
                <a:sym typeface="Girassol"/>
              </a:rPr>
              <a:t>OBJECT TRACKING IN SURVEILLANCE VIDEOS</a:t>
            </a:r>
          </a:p>
        </p:txBody>
      </p:sp>
      <p:sp>
        <p:nvSpPr>
          <p:cNvPr id="13" name="Freeform 13"/>
          <p:cNvSpPr/>
          <p:nvPr/>
        </p:nvSpPr>
        <p:spPr>
          <a:xfrm>
            <a:off x="12646898" y="-210192"/>
            <a:ext cx="7315200" cy="2477783"/>
          </a:xfrm>
          <a:custGeom>
            <a:avLst/>
            <a:gdLst/>
            <a:ahLst/>
            <a:cxnLst/>
            <a:rect l="l" t="t" r="r" b="b"/>
            <a:pathLst>
              <a:path w="7315200" h="2477783">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4" name="Freeform 14"/>
          <p:cNvSpPr/>
          <p:nvPr/>
        </p:nvSpPr>
        <p:spPr>
          <a:xfrm>
            <a:off x="11118095" y="9258300"/>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5" name="TextBox 15"/>
          <p:cNvSpPr txBox="1"/>
          <p:nvPr/>
        </p:nvSpPr>
        <p:spPr>
          <a:xfrm>
            <a:off x="6401815" y="5038725"/>
            <a:ext cx="8373880" cy="912465"/>
          </a:xfrm>
          <a:prstGeom prst="rect">
            <a:avLst/>
          </a:prstGeom>
        </p:spPr>
        <p:txBody>
          <a:bodyPr lIns="0" tIns="0" rIns="0" bIns="0" rtlCol="0" anchor="t">
            <a:spAutoFit/>
          </a:bodyPr>
          <a:lstStyle/>
          <a:p>
            <a:pPr algn="ctr">
              <a:lnSpc>
                <a:spcPts val="7456"/>
              </a:lnSpc>
            </a:pPr>
            <a:r>
              <a:rPr lang="en-US" sz="5326">
                <a:solidFill>
                  <a:srgbClr val="000000"/>
                </a:solidFill>
                <a:latin typeface="Libre Baskerville"/>
                <a:ea typeface="Libre Baskerville"/>
                <a:cs typeface="Libre Baskerville"/>
                <a:sym typeface="Libre Baskerville"/>
              </a:rPr>
              <a:t>Infosys Springboard 5.0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TextBox 2"/>
          <p:cNvSpPr txBox="1"/>
          <p:nvPr/>
        </p:nvSpPr>
        <p:spPr>
          <a:xfrm>
            <a:off x="5702946" y="9466108"/>
            <a:ext cx="6882108" cy="464820"/>
          </a:xfrm>
          <a:prstGeom prst="rect">
            <a:avLst/>
          </a:prstGeom>
        </p:spPr>
        <p:txBody>
          <a:bodyPr lIns="0" tIns="0" rIns="0" bIns="0" rtlCol="0" anchor="t">
            <a:spAutoFit/>
          </a:bodyPr>
          <a:lstStyle/>
          <a:p>
            <a:pPr algn="ctr">
              <a:lnSpc>
                <a:spcPts val="3779"/>
              </a:lnSpc>
            </a:pPr>
            <a:r>
              <a:rPr lang="en-US" sz="2700">
                <a:solidFill>
                  <a:srgbClr val="000000"/>
                </a:solidFill>
                <a:latin typeface="Alatsi"/>
                <a:ea typeface="Alatsi"/>
                <a:cs typeface="Alatsi"/>
                <a:sym typeface="Alatsi"/>
              </a:rPr>
              <a:t>Infosys Springboard 5.0</a:t>
            </a:r>
          </a:p>
        </p:txBody>
      </p:sp>
      <p:sp>
        <p:nvSpPr>
          <p:cNvPr id="3" name="AutoShape 3"/>
          <p:cNvSpPr/>
          <p:nvPr/>
        </p:nvSpPr>
        <p:spPr>
          <a:xfrm>
            <a:off x="153" y="9717568"/>
            <a:ext cx="7105264" cy="19050"/>
          </a:xfrm>
          <a:prstGeom prst="line">
            <a:avLst/>
          </a:prstGeom>
          <a:ln w="114300" cap="flat">
            <a:solidFill>
              <a:srgbClr val="9FC3D0"/>
            </a:solidFill>
            <a:prstDash val="solid"/>
            <a:headEnd type="none" w="sm" len="sm"/>
            <a:tailEnd type="none" w="sm" len="sm"/>
          </a:ln>
        </p:spPr>
      </p:sp>
      <p:sp>
        <p:nvSpPr>
          <p:cNvPr id="4" name="AutoShape 4"/>
          <p:cNvSpPr/>
          <p:nvPr/>
        </p:nvSpPr>
        <p:spPr>
          <a:xfrm>
            <a:off x="11182583" y="9727093"/>
            <a:ext cx="7105264" cy="19050"/>
          </a:xfrm>
          <a:prstGeom prst="line">
            <a:avLst/>
          </a:prstGeom>
          <a:ln w="114300" cap="flat">
            <a:solidFill>
              <a:srgbClr val="9FC3D0"/>
            </a:solidFill>
            <a:prstDash val="solid"/>
            <a:headEnd type="none" w="sm" len="sm"/>
            <a:tailEnd type="none" w="sm" len="sm"/>
          </a:ln>
        </p:spPr>
      </p:sp>
      <p:sp>
        <p:nvSpPr>
          <p:cNvPr id="5" name="Freeform 5"/>
          <p:cNvSpPr/>
          <p:nvPr/>
        </p:nvSpPr>
        <p:spPr>
          <a:xfrm>
            <a:off x="13382356" y="7249309"/>
            <a:ext cx="7315200" cy="2477783"/>
          </a:xfrm>
          <a:custGeom>
            <a:avLst/>
            <a:gdLst/>
            <a:ahLst/>
            <a:cxnLst/>
            <a:rect l="l" t="t" r="r" b="b"/>
            <a:pathLst>
              <a:path w="7315200" h="2477783">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TextBox 6"/>
          <p:cNvSpPr txBox="1"/>
          <p:nvPr/>
        </p:nvSpPr>
        <p:spPr>
          <a:xfrm>
            <a:off x="2354233" y="217299"/>
            <a:ext cx="13180039" cy="1387472"/>
          </a:xfrm>
          <a:prstGeom prst="rect">
            <a:avLst/>
          </a:prstGeom>
        </p:spPr>
        <p:txBody>
          <a:bodyPr lIns="0" tIns="0" rIns="0" bIns="0" rtlCol="0" anchor="t">
            <a:spAutoFit/>
          </a:bodyPr>
          <a:lstStyle/>
          <a:p>
            <a:pPr algn="ctr">
              <a:lnSpc>
                <a:spcPts val="11200"/>
              </a:lnSpc>
            </a:pPr>
            <a:r>
              <a:rPr lang="en-US" sz="8000">
                <a:solidFill>
                  <a:srgbClr val="000000"/>
                </a:solidFill>
                <a:latin typeface="Girassol"/>
                <a:ea typeface="Girassol"/>
                <a:cs typeface="Girassol"/>
                <a:sym typeface="Girassol"/>
              </a:rPr>
              <a:t>INTRODUCTION</a:t>
            </a:r>
          </a:p>
        </p:txBody>
      </p:sp>
      <p:grpSp>
        <p:nvGrpSpPr>
          <p:cNvPr id="7" name="Group 7"/>
          <p:cNvGrpSpPr/>
          <p:nvPr/>
        </p:nvGrpSpPr>
        <p:grpSpPr>
          <a:xfrm>
            <a:off x="16477994" y="0"/>
            <a:ext cx="1562612" cy="1673225"/>
            <a:chOff x="0" y="0"/>
            <a:chExt cx="2083482" cy="2230967"/>
          </a:xfrm>
        </p:grpSpPr>
        <p:grpSp>
          <p:nvGrpSpPr>
            <p:cNvPr id="8" name="Group 8"/>
            <p:cNvGrpSpPr/>
            <p:nvPr/>
          </p:nvGrpSpPr>
          <p:grpSpPr>
            <a:xfrm>
              <a:off x="75599" y="0"/>
              <a:ext cx="1932284" cy="2230967"/>
              <a:chOff x="0" y="0"/>
              <a:chExt cx="703982" cy="812800"/>
            </a:xfrm>
          </p:grpSpPr>
          <p:sp>
            <p:nvSpPr>
              <p:cNvPr id="9" name="Freeform 9"/>
              <p:cNvSpPr/>
              <p:nvPr/>
            </p:nvSpPr>
            <p:spPr>
              <a:xfrm>
                <a:off x="0" y="0"/>
                <a:ext cx="703982" cy="812800"/>
              </a:xfrm>
              <a:custGeom>
                <a:avLst/>
                <a:gdLst/>
                <a:ahLst/>
                <a:cxnLst/>
                <a:rect l="l" t="t" r="r" b="b"/>
                <a:pathLst>
                  <a:path w="703982" h="812800">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E9C7C6"/>
              </a:solidFill>
            </p:spPr>
          </p:sp>
          <p:sp>
            <p:nvSpPr>
              <p:cNvPr id="10" name="TextBox 10"/>
              <p:cNvSpPr txBox="1"/>
              <p:nvPr/>
            </p:nvSpPr>
            <p:spPr>
              <a:xfrm>
                <a:off x="0" y="-47625"/>
                <a:ext cx="703982" cy="733425"/>
              </a:xfrm>
              <a:prstGeom prst="rect">
                <a:avLst/>
              </a:prstGeom>
            </p:spPr>
            <p:txBody>
              <a:bodyPr lIns="50800" tIns="50800" rIns="50800" bIns="50800" rtlCol="0" anchor="ctr"/>
              <a:lstStyle/>
              <a:p>
                <a:pPr algn="ctr">
                  <a:lnSpc>
                    <a:spcPts val="2659"/>
                  </a:lnSpc>
                </a:pPr>
                <a:endParaRPr/>
              </a:p>
            </p:txBody>
          </p:sp>
        </p:grpSp>
        <p:sp>
          <p:nvSpPr>
            <p:cNvPr id="11" name="TextBox 11"/>
            <p:cNvSpPr txBox="1"/>
            <p:nvPr/>
          </p:nvSpPr>
          <p:spPr>
            <a:xfrm>
              <a:off x="0" y="437582"/>
              <a:ext cx="2083482" cy="1241504"/>
            </a:xfrm>
            <a:prstGeom prst="rect">
              <a:avLst/>
            </a:prstGeom>
          </p:spPr>
          <p:txBody>
            <a:bodyPr lIns="0" tIns="0" rIns="0" bIns="0" rtlCol="0" anchor="t">
              <a:spAutoFit/>
            </a:bodyPr>
            <a:lstStyle/>
            <a:p>
              <a:pPr algn="ctr">
                <a:lnSpc>
                  <a:spcPts val="7805"/>
                </a:lnSpc>
              </a:pPr>
              <a:r>
                <a:rPr lang="en-US" sz="5575" b="1">
                  <a:solidFill>
                    <a:srgbClr val="000000"/>
                  </a:solidFill>
                  <a:latin typeface="Open Sans Bold"/>
                  <a:ea typeface="Open Sans Bold"/>
                  <a:cs typeface="Open Sans Bold"/>
                  <a:sym typeface="Open Sans Bold"/>
                </a:rPr>
                <a:t>2</a:t>
              </a:r>
            </a:p>
          </p:txBody>
        </p:sp>
      </p:grpSp>
      <p:sp>
        <p:nvSpPr>
          <p:cNvPr id="12" name="Freeform 12"/>
          <p:cNvSpPr/>
          <p:nvPr/>
        </p:nvSpPr>
        <p:spPr>
          <a:xfrm>
            <a:off x="-2417361" y="-996646"/>
            <a:ext cx="7315200" cy="2477783"/>
          </a:xfrm>
          <a:custGeom>
            <a:avLst/>
            <a:gdLst/>
            <a:ahLst/>
            <a:cxnLst/>
            <a:rect l="l" t="t" r="r" b="b"/>
            <a:pathLst>
              <a:path w="7315200" h="2477783">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3" name="TextBox 13"/>
          <p:cNvSpPr txBox="1"/>
          <p:nvPr/>
        </p:nvSpPr>
        <p:spPr>
          <a:xfrm>
            <a:off x="1138372" y="1839725"/>
            <a:ext cx="15611761" cy="1235075"/>
          </a:xfrm>
          <a:prstGeom prst="rect">
            <a:avLst/>
          </a:prstGeom>
        </p:spPr>
        <p:txBody>
          <a:bodyPr lIns="0" tIns="0" rIns="0" bIns="0" rtlCol="0" anchor="t">
            <a:spAutoFit/>
          </a:bodyPr>
          <a:lstStyle/>
          <a:p>
            <a:pPr marL="755651" lvl="1" indent="-377825" algn="l">
              <a:lnSpc>
                <a:spcPts val="4900"/>
              </a:lnSpc>
              <a:buFont typeface="Arial"/>
              <a:buChar char="•"/>
            </a:pPr>
            <a:r>
              <a:rPr lang="en-US" sz="3500" dirty="0">
                <a:solidFill>
                  <a:srgbClr val="000000"/>
                </a:solidFill>
                <a:latin typeface="Abhaya Libre"/>
                <a:ea typeface="Abhaya Libre"/>
                <a:cs typeface="Abhaya Libre"/>
                <a:sym typeface="Abhaya Libre"/>
              </a:rPr>
              <a:t>Object detection in surveillance videos uses computer vision and deep learning to identify and classify objects like people and vehicles. </a:t>
            </a:r>
          </a:p>
        </p:txBody>
      </p:sp>
      <p:sp>
        <p:nvSpPr>
          <p:cNvPr id="14" name="TextBox 14"/>
          <p:cNvSpPr txBox="1"/>
          <p:nvPr/>
        </p:nvSpPr>
        <p:spPr>
          <a:xfrm>
            <a:off x="1138372" y="3241300"/>
            <a:ext cx="16011256" cy="1235075"/>
          </a:xfrm>
          <a:prstGeom prst="rect">
            <a:avLst/>
          </a:prstGeom>
        </p:spPr>
        <p:txBody>
          <a:bodyPr lIns="0" tIns="0" rIns="0" bIns="0" rtlCol="0" anchor="t">
            <a:spAutoFit/>
          </a:bodyPr>
          <a:lstStyle/>
          <a:p>
            <a:pPr marL="755651" lvl="1" indent="-377825" algn="l">
              <a:lnSpc>
                <a:spcPts val="4900"/>
              </a:lnSpc>
              <a:buFont typeface="Arial"/>
              <a:buChar char="•"/>
            </a:pPr>
            <a:r>
              <a:rPr lang="en-US" sz="3500">
                <a:solidFill>
                  <a:srgbClr val="000000"/>
                </a:solidFill>
                <a:latin typeface="Abhaya Libre"/>
                <a:ea typeface="Abhaya Libre"/>
                <a:cs typeface="Abhaya Libre"/>
                <a:sym typeface="Abhaya Libre"/>
              </a:rPr>
              <a:t>It enhances security by automating threat detection, generating real-time alerts, and significantly reducing manual monitoring efforts.</a:t>
            </a:r>
          </a:p>
        </p:txBody>
      </p:sp>
      <p:sp>
        <p:nvSpPr>
          <p:cNvPr id="15" name="TextBox 15"/>
          <p:cNvSpPr txBox="1"/>
          <p:nvPr/>
        </p:nvSpPr>
        <p:spPr>
          <a:xfrm>
            <a:off x="1028700" y="4523624"/>
            <a:ext cx="16230600" cy="1235075"/>
          </a:xfrm>
          <a:prstGeom prst="rect">
            <a:avLst/>
          </a:prstGeom>
        </p:spPr>
        <p:txBody>
          <a:bodyPr lIns="0" tIns="0" rIns="0" bIns="0" rtlCol="0" anchor="t">
            <a:spAutoFit/>
          </a:bodyPr>
          <a:lstStyle/>
          <a:p>
            <a:pPr marL="755651" lvl="1" indent="-377825" algn="l">
              <a:lnSpc>
                <a:spcPts val="4900"/>
              </a:lnSpc>
              <a:buFont typeface="Arial"/>
              <a:buChar char="•"/>
            </a:pPr>
            <a:r>
              <a:rPr lang="en-US" sz="3500">
                <a:solidFill>
                  <a:srgbClr val="000000"/>
                </a:solidFill>
                <a:latin typeface="Abhaya Libre"/>
                <a:ea typeface="Abhaya Libre"/>
                <a:cs typeface="Abhaya Libre"/>
                <a:sym typeface="Abhaya Libre"/>
              </a:rPr>
              <a:t>This technology improves efficiency by saving time, preventing crimes, and providing critical insights into crowd density, unusual activities, and traffic patterns.</a:t>
            </a:r>
          </a:p>
        </p:txBody>
      </p:sp>
      <p:sp>
        <p:nvSpPr>
          <p:cNvPr id="16" name="TextBox 16"/>
          <p:cNvSpPr txBox="1"/>
          <p:nvPr/>
        </p:nvSpPr>
        <p:spPr>
          <a:xfrm>
            <a:off x="1028700" y="6044449"/>
            <a:ext cx="16543916" cy="1235075"/>
          </a:xfrm>
          <a:prstGeom prst="rect">
            <a:avLst/>
          </a:prstGeom>
        </p:spPr>
        <p:txBody>
          <a:bodyPr lIns="0" tIns="0" rIns="0" bIns="0" rtlCol="0" anchor="t">
            <a:spAutoFit/>
          </a:bodyPr>
          <a:lstStyle/>
          <a:p>
            <a:pPr marL="755651" lvl="1" indent="-377825" algn="l">
              <a:lnSpc>
                <a:spcPts val="4900"/>
              </a:lnSpc>
              <a:buFont typeface="Arial"/>
              <a:buChar char="•"/>
            </a:pPr>
            <a:r>
              <a:rPr lang="en-US" sz="3500">
                <a:solidFill>
                  <a:srgbClr val="000000"/>
                </a:solidFill>
                <a:latin typeface="Abhaya Libre"/>
                <a:ea typeface="Abhaya Libre"/>
                <a:cs typeface="Abhaya Libre"/>
                <a:sym typeface="Abhaya Libre"/>
              </a:rPr>
              <a:t>Future advancements include AI-driven predictive analytics, real-time edge computing, and behavior analysis for anomaly detection, improving proactive threat prevention.</a:t>
            </a:r>
          </a:p>
        </p:txBody>
      </p:sp>
      <p:sp>
        <p:nvSpPr>
          <p:cNvPr id="17" name="TextBox 17"/>
          <p:cNvSpPr txBox="1"/>
          <p:nvPr/>
        </p:nvSpPr>
        <p:spPr>
          <a:xfrm>
            <a:off x="1028700" y="7568085"/>
            <a:ext cx="17047761" cy="1235075"/>
          </a:xfrm>
          <a:prstGeom prst="rect">
            <a:avLst/>
          </a:prstGeom>
        </p:spPr>
        <p:txBody>
          <a:bodyPr lIns="0" tIns="0" rIns="0" bIns="0" rtlCol="0" anchor="t">
            <a:spAutoFit/>
          </a:bodyPr>
          <a:lstStyle/>
          <a:p>
            <a:pPr marL="755651" lvl="1" indent="-377825" algn="l">
              <a:lnSpc>
                <a:spcPts val="4900"/>
              </a:lnSpc>
              <a:buFont typeface="Arial"/>
              <a:buChar char="•"/>
            </a:pPr>
            <a:r>
              <a:rPr lang="en-US" sz="3500">
                <a:solidFill>
                  <a:srgbClr val="000000"/>
                </a:solidFill>
                <a:latin typeface="Abhaya Libre"/>
                <a:ea typeface="Abhaya Libre"/>
                <a:cs typeface="Abhaya Libre"/>
                <a:sym typeface="Abhaya Libre"/>
              </a:rPr>
              <a:t>Beyond security, it has applications in smart cities, traffic management, retail, and healthcare monitoring systems.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grpSp>
        <p:nvGrpSpPr>
          <p:cNvPr id="2" name="Group 2"/>
          <p:cNvGrpSpPr/>
          <p:nvPr/>
        </p:nvGrpSpPr>
        <p:grpSpPr>
          <a:xfrm>
            <a:off x="627362" y="0"/>
            <a:ext cx="937061" cy="10287000"/>
            <a:chOff x="0" y="0"/>
            <a:chExt cx="246798" cy="2709333"/>
          </a:xfrm>
        </p:grpSpPr>
        <p:sp>
          <p:nvSpPr>
            <p:cNvPr id="3" name="Freeform 3"/>
            <p:cNvSpPr/>
            <p:nvPr/>
          </p:nvSpPr>
          <p:spPr>
            <a:xfrm>
              <a:off x="0" y="0"/>
              <a:ext cx="246798" cy="2709333"/>
            </a:xfrm>
            <a:custGeom>
              <a:avLst/>
              <a:gdLst/>
              <a:ahLst/>
              <a:cxnLst/>
              <a:rect l="l" t="t" r="r" b="b"/>
              <a:pathLst>
                <a:path w="246798" h="2709333">
                  <a:moveTo>
                    <a:pt x="0" y="0"/>
                  </a:moveTo>
                  <a:lnTo>
                    <a:pt x="246798" y="0"/>
                  </a:lnTo>
                  <a:lnTo>
                    <a:pt x="246798" y="2709333"/>
                  </a:lnTo>
                  <a:lnTo>
                    <a:pt x="0" y="2709333"/>
                  </a:lnTo>
                  <a:close/>
                </a:path>
              </a:pathLst>
            </a:custGeom>
            <a:solidFill>
              <a:srgbClr val="F6F3EB"/>
            </a:solidFill>
          </p:spPr>
        </p:sp>
        <p:sp>
          <p:nvSpPr>
            <p:cNvPr id="4" name="TextBox 4"/>
            <p:cNvSpPr txBox="1"/>
            <p:nvPr/>
          </p:nvSpPr>
          <p:spPr>
            <a:xfrm>
              <a:off x="0" y="-38100"/>
              <a:ext cx="246798" cy="2747433"/>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2553980" y="2946411"/>
            <a:ext cx="503827" cy="503827"/>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2553980" y="6480234"/>
            <a:ext cx="503827" cy="503827"/>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10" name="TextBox 10"/>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9703942" y="2946411"/>
            <a:ext cx="503827" cy="503827"/>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9900082" y="6480234"/>
            <a:ext cx="503827" cy="503827"/>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16" name="TextBox 1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7" name="TextBox 17"/>
          <p:cNvSpPr txBox="1"/>
          <p:nvPr/>
        </p:nvSpPr>
        <p:spPr>
          <a:xfrm>
            <a:off x="2553980" y="866775"/>
            <a:ext cx="13180039" cy="1450976"/>
          </a:xfrm>
          <a:prstGeom prst="rect">
            <a:avLst/>
          </a:prstGeom>
        </p:spPr>
        <p:txBody>
          <a:bodyPr lIns="0" tIns="0" rIns="0" bIns="0" rtlCol="0" anchor="t">
            <a:spAutoFit/>
          </a:bodyPr>
          <a:lstStyle/>
          <a:p>
            <a:pPr algn="ctr">
              <a:lnSpc>
                <a:spcPts val="11899"/>
              </a:lnSpc>
            </a:pPr>
            <a:r>
              <a:rPr lang="en-US" sz="8499">
                <a:solidFill>
                  <a:srgbClr val="000000"/>
                </a:solidFill>
                <a:latin typeface="Girassol"/>
                <a:ea typeface="Girassol"/>
                <a:cs typeface="Girassol"/>
                <a:sym typeface="Girassol"/>
              </a:rPr>
              <a:t>IMPLEMENTATION</a:t>
            </a:r>
          </a:p>
        </p:txBody>
      </p:sp>
      <p:sp>
        <p:nvSpPr>
          <p:cNvPr id="18" name="TextBox 18"/>
          <p:cNvSpPr txBox="1"/>
          <p:nvPr/>
        </p:nvSpPr>
        <p:spPr>
          <a:xfrm>
            <a:off x="3260980" y="2748427"/>
            <a:ext cx="5381802" cy="804545"/>
          </a:xfrm>
          <a:prstGeom prst="rect">
            <a:avLst/>
          </a:prstGeom>
        </p:spPr>
        <p:txBody>
          <a:bodyPr lIns="0" tIns="0" rIns="0" bIns="0" rtlCol="0" anchor="t">
            <a:spAutoFit/>
          </a:bodyPr>
          <a:lstStyle/>
          <a:p>
            <a:pPr algn="l">
              <a:lnSpc>
                <a:spcPts val="6580"/>
              </a:lnSpc>
            </a:pPr>
            <a:r>
              <a:rPr lang="en-US" sz="4700">
                <a:solidFill>
                  <a:srgbClr val="000000"/>
                </a:solidFill>
                <a:latin typeface="Girassol"/>
                <a:ea typeface="Girassol"/>
                <a:cs typeface="Girassol"/>
                <a:sym typeface="Girassol"/>
              </a:rPr>
              <a:t>Phase 1</a:t>
            </a:r>
          </a:p>
        </p:txBody>
      </p:sp>
      <p:sp>
        <p:nvSpPr>
          <p:cNvPr id="19" name="TextBox 19"/>
          <p:cNvSpPr txBox="1"/>
          <p:nvPr/>
        </p:nvSpPr>
        <p:spPr>
          <a:xfrm>
            <a:off x="3260980" y="3667272"/>
            <a:ext cx="6848358" cy="529992"/>
          </a:xfrm>
          <a:prstGeom prst="rect">
            <a:avLst/>
          </a:prstGeom>
        </p:spPr>
        <p:txBody>
          <a:bodyPr lIns="0" tIns="0" rIns="0" bIns="0" rtlCol="0" anchor="t">
            <a:spAutoFit/>
          </a:bodyPr>
          <a:lstStyle/>
          <a:p>
            <a:pPr algn="l">
              <a:lnSpc>
                <a:spcPts val="4369"/>
              </a:lnSpc>
            </a:pPr>
            <a:r>
              <a:rPr lang="en-US" sz="3121">
                <a:solidFill>
                  <a:srgbClr val="000000"/>
                </a:solidFill>
                <a:latin typeface="Alatsi"/>
                <a:ea typeface="Alatsi"/>
                <a:cs typeface="Alatsi"/>
                <a:sym typeface="Alatsi"/>
              </a:rPr>
              <a:t>Image Processing:</a:t>
            </a:r>
          </a:p>
        </p:txBody>
      </p:sp>
      <p:sp>
        <p:nvSpPr>
          <p:cNvPr id="20" name="TextBox 20"/>
          <p:cNvSpPr txBox="1"/>
          <p:nvPr/>
        </p:nvSpPr>
        <p:spPr>
          <a:xfrm rot="-5400000">
            <a:off x="-2373736" y="4911090"/>
            <a:ext cx="6882108" cy="464820"/>
          </a:xfrm>
          <a:prstGeom prst="rect">
            <a:avLst/>
          </a:prstGeom>
        </p:spPr>
        <p:txBody>
          <a:bodyPr lIns="0" tIns="0" rIns="0" bIns="0" rtlCol="0" anchor="t">
            <a:spAutoFit/>
          </a:bodyPr>
          <a:lstStyle/>
          <a:p>
            <a:pPr algn="ctr">
              <a:lnSpc>
                <a:spcPts val="3779"/>
              </a:lnSpc>
            </a:pPr>
            <a:r>
              <a:rPr lang="en-US" sz="2700">
                <a:solidFill>
                  <a:srgbClr val="000000"/>
                </a:solidFill>
                <a:latin typeface="Alatsi"/>
                <a:ea typeface="Alatsi"/>
                <a:cs typeface="Alatsi"/>
                <a:sym typeface="Alatsi"/>
              </a:rPr>
              <a:t>Infosys Springboard 5.0</a:t>
            </a:r>
          </a:p>
        </p:txBody>
      </p:sp>
      <p:sp>
        <p:nvSpPr>
          <p:cNvPr id="21" name="TextBox 21"/>
          <p:cNvSpPr txBox="1"/>
          <p:nvPr/>
        </p:nvSpPr>
        <p:spPr>
          <a:xfrm>
            <a:off x="3260980" y="6282250"/>
            <a:ext cx="5381802" cy="804545"/>
          </a:xfrm>
          <a:prstGeom prst="rect">
            <a:avLst/>
          </a:prstGeom>
        </p:spPr>
        <p:txBody>
          <a:bodyPr lIns="0" tIns="0" rIns="0" bIns="0" rtlCol="0" anchor="t">
            <a:spAutoFit/>
          </a:bodyPr>
          <a:lstStyle/>
          <a:p>
            <a:pPr algn="l">
              <a:lnSpc>
                <a:spcPts val="6580"/>
              </a:lnSpc>
            </a:pPr>
            <a:r>
              <a:rPr lang="en-US" sz="4700">
                <a:solidFill>
                  <a:srgbClr val="000000"/>
                </a:solidFill>
                <a:latin typeface="Girassol"/>
                <a:ea typeface="Girassol"/>
                <a:cs typeface="Girassol"/>
                <a:sym typeface="Girassol"/>
              </a:rPr>
              <a:t>Phase 2</a:t>
            </a:r>
          </a:p>
        </p:txBody>
      </p:sp>
      <p:sp>
        <p:nvSpPr>
          <p:cNvPr id="22" name="TextBox 22"/>
          <p:cNvSpPr txBox="1"/>
          <p:nvPr/>
        </p:nvSpPr>
        <p:spPr>
          <a:xfrm>
            <a:off x="3260980" y="7201095"/>
            <a:ext cx="6848358" cy="529992"/>
          </a:xfrm>
          <a:prstGeom prst="rect">
            <a:avLst/>
          </a:prstGeom>
        </p:spPr>
        <p:txBody>
          <a:bodyPr lIns="0" tIns="0" rIns="0" bIns="0" rtlCol="0" anchor="t">
            <a:spAutoFit/>
          </a:bodyPr>
          <a:lstStyle/>
          <a:p>
            <a:pPr algn="l">
              <a:lnSpc>
                <a:spcPts val="4369"/>
              </a:lnSpc>
            </a:pPr>
            <a:r>
              <a:rPr lang="en-US" sz="3121">
                <a:solidFill>
                  <a:srgbClr val="000000"/>
                </a:solidFill>
                <a:latin typeface="Alatsi"/>
                <a:ea typeface="Alatsi"/>
                <a:cs typeface="Alatsi"/>
                <a:sym typeface="Alatsi"/>
              </a:rPr>
              <a:t>Object Detection:</a:t>
            </a:r>
          </a:p>
        </p:txBody>
      </p:sp>
      <p:sp>
        <p:nvSpPr>
          <p:cNvPr id="23" name="TextBox 23"/>
          <p:cNvSpPr txBox="1"/>
          <p:nvPr/>
        </p:nvSpPr>
        <p:spPr>
          <a:xfrm>
            <a:off x="10410942" y="2748427"/>
            <a:ext cx="5381802" cy="804545"/>
          </a:xfrm>
          <a:prstGeom prst="rect">
            <a:avLst/>
          </a:prstGeom>
        </p:spPr>
        <p:txBody>
          <a:bodyPr lIns="0" tIns="0" rIns="0" bIns="0" rtlCol="0" anchor="t">
            <a:spAutoFit/>
          </a:bodyPr>
          <a:lstStyle/>
          <a:p>
            <a:pPr algn="l">
              <a:lnSpc>
                <a:spcPts val="6580"/>
              </a:lnSpc>
            </a:pPr>
            <a:r>
              <a:rPr lang="en-US" sz="4700">
                <a:solidFill>
                  <a:srgbClr val="000000"/>
                </a:solidFill>
                <a:latin typeface="Girassol"/>
                <a:ea typeface="Girassol"/>
                <a:cs typeface="Girassol"/>
                <a:sym typeface="Girassol"/>
              </a:rPr>
              <a:t>Phase 3</a:t>
            </a:r>
          </a:p>
        </p:txBody>
      </p:sp>
      <p:sp>
        <p:nvSpPr>
          <p:cNvPr id="24" name="TextBox 24"/>
          <p:cNvSpPr txBox="1"/>
          <p:nvPr/>
        </p:nvSpPr>
        <p:spPr>
          <a:xfrm>
            <a:off x="10410942" y="3495822"/>
            <a:ext cx="6848358" cy="529992"/>
          </a:xfrm>
          <a:prstGeom prst="rect">
            <a:avLst/>
          </a:prstGeom>
        </p:spPr>
        <p:txBody>
          <a:bodyPr lIns="0" tIns="0" rIns="0" bIns="0" rtlCol="0" anchor="t">
            <a:spAutoFit/>
          </a:bodyPr>
          <a:lstStyle/>
          <a:p>
            <a:pPr algn="l">
              <a:lnSpc>
                <a:spcPts val="4369"/>
              </a:lnSpc>
            </a:pPr>
            <a:r>
              <a:rPr lang="en-US" sz="3121">
                <a:solidFill>
                  <a:srgbClr val="000000"/>
                </a:solidFill>
                <a:latin typeface="Alatsi"/>
                <a:ea typeface="Alatsi"/>
                <a:cs typeface="Alatsi"/>
                <a:sym typeface="Alatsi"/>
              </a:rPr>
              <a:t>Object Tracking:</a:t>
            </a:r>
          </a:p>
        </p:txBody>
      </p:sp>
      <p:sp>
        <p:nvSpPr>
          <p:cNvPr id="25" name="TextBox 25"/>
          <p:cNvSpPr txBox="1"/>
          <p:nvPr/>
        </p:nvSpPr>
        <p:spPr>
          <a:xfrm>
            <a:off x="10607081" y="6282250"/>
            <a:ext cx="5381802" cy="804545"/>
          </a:xfrm>
          <a:prstGeom prst="rect">
            <a:avLst/>
          </a:prstGeom>
        </p:spPr>
        <p:txBody>
          <a:bodyPr lIns="0" tIns="0" rIns="0" bIns="0" rtlCol="0" anchor="t">
            <a:spAutoFit/>
          </a:bodyPr>
          <a:lstStyle/>
          <a:p>
            <a:pPr algn="l">
              <a:lnSpc>
                <a:spcPts val="6580"/>
              </a:lnSpc>
            </a:pPr>
            <a:r>
              <a:rPr lang="en-US" sz="4700">
                <a:solidFill>
                  <a:srgbClr val="000000"/>
                </a:solidFill>
                <a:latin typeface="Girassol"/>
                <a:ea typeface="Girassol"/>
                <a:cs typeface="Girassol"/>
                <a:sym typeface="Girassol"/>
              </a:rPr>
              <a:t>Phase 4</a:t>
            </a:r>
          </a:p>
        </p:txBody>
      </p:sp>
      <p:sp>
        <p:nvSpPr>
          <p:cNvPr id="26" name="TextBox 26"/>
          <p:cNvSpPr txBox="1"/>
          <p:nvPr/>
        </p:nvSpPr>
        <p:spPr>
          <a:xfrm>
            <a:off x="10607081" y="7201095"/>
            <a:ext cx="6848358" cy="529992"/>
          </a:xfrm>
          <a:prstGeom prst="rect">
            <a:avLst/>
          </a:prstGeom>
        </p:spPr>
        <p:txBody>
          <a:bodyPr lIns="0" tIns="0" rIns="0" bIns="0" rtlCol="0" anchor="t">
            <a:spAutoFit/>
          </a:bodyPr>
          <a:lstStyle/>
          <a:p>
            <a:pPr algn="l">
              <a:lnSpc>
                <a:spcPts val="4369"/>
              </a:lnSpc>
            </a:pPr>
            <a:r>
              <a:rPr lang="en-US" sz="3121">
                <a:solidFill>
                  <a:srgbClr val="000000"/>
                </a:solidFill>
                <a:latin typeface="Alatsi"/>
                <a:ea typeface="Alatsi"/>
                <a:cs typeface="Alatsi"/>
                <a:sym typeface="Alatsi"/>
              </a:rPr>
              <a:t>Frontend Implementation:</a:t>
            </a:r>
          </a:p>
        </p:txBody>
      </p:sp>
      <p:sp>
        <p:nvSpPr>
          <p:cNvPr id="27" name="AutoShape 27"/>
          <p:cNvSpPr/>
          <p:nvPr/>
        </p:nvSpPr>
        <p:spPr>
          <a:xfrm flipH="1" flipV="1">
            <a:off x="1085850" y="7289441"/>
            <a:ext cx="5403" cy="2997456"/>
          </a:xfrm>
          <a:prstGeom prst="line">
            <a:avLst/>
          </a:prstGeom>
          <a:ln w="114300" cap="flat">
            <a:solidFill>
              <a:srgbClr val="9FC3D0"/>
            </a:solidFill>
            <a:prstDash val="solid"/>
            <a:headEnd type="none" w="sm" len="sm"/>
            <a:tailEnd type="none" w="sm" len="sm"/>
          </a:ln>
        </p:spPr>
      </p:sp>
      <p:sp>
        <p:nvSpPr>
          <p:cNvPr id="28" name="AutoShape 28"/>
          <p:cNvSpPr/>
          <p:nvPr/>
        </p:nvSpPr>
        <p:spPr>
          <a:xfrm flipH="1" flipV="1">
            <a:off x="1090490" y="-104525"/>
            <a:ext cx="5403" cy="2997456"/>
          </a:xfrm>
          <a:prstGeom prst="line">
            <a:avLst/>
          </a:prstGeom>
          <a:ln w="114300" cap="flat">
            <a:solidFill>
              <a:srgbClr val="9FC3D0"/>
            </a:solidFill>
            <a:prstDash val="solid"/>
            <a:headEnd type="none" w="sm" len="sm"/>
            <a:tailEnd type="none" w="sm" len="sm"/>
          </a:ln>
        </p:spPr>
      </p:sp>
      <p:grpSp>
        <p:nvGrpSpPr>
          <p:cNvPr id="29" name="Group 29"/>
          <p:cNvGrpSpPr/>
          <p:nvPr/>
        </p:nvGrpSpPr>
        <p:grpSpPr>
          <a:xfrm>
            <a:off x="16477994" y="0"/>
            <a:ext cx="1562612" cy="1673225"/>
            <a:chOff x="0" y="0"/>
            <a:chExt cx="2083482" cy="2230967"/>
          </a:xfrm>
        </p:grpSpPr>
        <p:grpSp>
          <p:nvGrpSpPr>
            <p:cNvPr id="30" name="Group 30"/>
            <p:cNvGrpSpPr/>
            <p:nvPr/>
          </p:nvGrpSpPr>
          <p:grpSpPr>
            <a:xfrm>
              <a:off x="75599" y="0"/>
              <a:ext cx="1932284" cy="2230967"/>
              <a:chOff x="0" y="0"/>
              <a:chExt cx="703982" cy="812800"/>
            </a:xfrm>
          </p:grpSpPr>
          <p:sp>
            <p:nvSpPr>
              <p:cNvPr id="31" name="Freeform 31"/>
              <p:cNvSpPr/>
              <p:nvPr/>
            </p:nvSpPr>
            <p:spPr>
              <a:xfrm>
                <a:off x="0" y="0"/>
                <a:ext cx="703982" cy="812800"/>
              </a:xfrm>
              <a:custGeom>
                <a:avLst/>
                <a:gdLst/>
                <a:ahLst/>
                <a:cxnLst/>
                <a:rect l="l" t="t" r="r" b="b"/>
                <a:pathLst>
                  <a:path w="703982" h="812800">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E9C7C6"/>
              </a:solidFill>
            </p:spPr>
          </p:sp>
          <p:sp>
            <p:nvSpPr>
              <p:cNvPr id="32" name="TextBox 32"/>
              <p:cNvSpPr txBox="1"/>
              <p:nvPr/>
            </p:nvSpPr>
            <p:spPr>
              <a:xfrm>
                <a:off x="0" y="-47625"/>
                <a:ext cx="703982" cy="733425"/>
              </a:xfrm>
              <a:prstGeom prst="rect">
                <a:avLst/>
              </a:prstGeom>
            </p:spPr>
            <p:txBody>
              <a:bodyPr lIns="50800" tIns="50800" rIns="50800" bIns="50800" rtlCol="0" anchor="ctr"/>
              <a:lstStyle/>
              <a:p>
                <a:pPr algn="ctr">
                  <a:lnSpc>
                    <a:spcPts val="2659"/>
                  </a:lnSpc>
                </a:pPr>
                <a:endParaRPr/>
              </a:p>
            </p:txBody>
          </p:sp>
        </p:grpSp>
        <p:sp>
          <p:nvSpPr>
            <p:cNvPr id="33" name="TextBox 33"/>
            <p:cNvSpPr txBox="1"/>
            <p:nvPr/>
          </p:nvSpPr>
          <p:spPr>
            <a:xfrm>
              <a:off x="0" y="437582"/>
              <a:ext cx="2083482" cy="1241504"/>
            </a:xfrm>
            <a:prstGeom prst="rect">
              <a:avLst/>
            </a:prstGeom>
          </p:spPr>
          <p:txBody>
            <a:bodyPr lIns="0" tIns="0" rIns="0" bIns="0" rtlCol="0" anchor="t">
              <a:spAutoFit/>
            </a:bodyPr>
            <a:lstStyle/>
            <a:p>
              <a:pPr algn="ctr">
                <a:lnSpc>
                  <a:spcPts val="7805"/>
                </a:lnSpc>
              </a:pPr>
              <a:r>
                <a:rPr lang="en-US" sz="5575" b="1">
                  <a:solidFill>
                    <a:srgbClr val="000000"/>
                  </a:solidFill>
                  <a:latin typeface="Open Sans Bold"/>
                  <a:ea typeface="Open Sans Bold"/>
                  <a:cs typeface="Open Sans Bold"/>
                  <a:sym typeface="Open Sans Bold"/>
                </a:rPr>
                <a:t>3</a:t>
              </a:r>
            </a:p>
          </p:txBody>
        </p:sp>
      </p:grpSp>
      <p:sp>
        <p:nvSpPr>
          <p:cNvPr id="34" name="Freeform 34"/>
          <p:cNvSpPr/>
          <p:nvPr/>
        </p:nvSpPr>
        <p:spPr>
          <a:xfrm>
            <a:off x="1263762" y="-1458608"/>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5" name="Freeform 35"/>
          <p:cNvSpPr/>
          <p:nvPr/>
        </p:nvSpPr>
        <p:spPr>
          <a:xfrm>
            <a:off x="11804788" y="9258300"/>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6" name="TextBox 36"/>
          <p:cNvSpPr txBox="1"/>
          <p:nvPr/>
        </p:nvSpPr>
        <p:spPr>
          <a:xfrm>
            <a:off x="3260980" y="4292514"/>
            <a:ext cx="4995420" cy="1189991"/>
          </a:xfrm>
          <a:prstGeom prst="rect">
            <a:avLst/>
          </a:prstGeom>
        </p:spPr>
        <p:txBody>
          <a:bodyPr lIns="0" tIns="0" rIns="0" bIns="0" rtlCol="0" anchor="t">
            <a:spAutoFit/>
          </a:bodyPr>
          <a:lstStyle/>
          <a:p>
            <a:pPr algn="l">
              <a:lnSpc>
                <a:spcPts val="4759"/>
              </a:lnSpc>
              <a:spcBef>
                <a:spcPct val="0"/>
              </a:spcBef>
            </a:pPr>
            <a:r>
              <a:rPr lang="en-US" sz="3399" b="1">
                <a:solidFill>
                  <a:srgbClr val="000000"/>
                </a:solidFill>
                <a:latin typeface="Abhaya Libre Bold"/>
                <a:ea typeface="Abhaya Libre Bold"/>
                <a:cs typeface="Abhaya Libre Bold"/>
                <a:sym typeface="Abhaya Libre Bold"/>
              </a:rPr>
              <a:t>Enhances visuals, extracts features, optimizes data.</a:t>
            </a:r>
          </a:p>
        </p:txBody>
      </p:sp>
      <p:sp>
        <p:nvSpPr>
          <p:cNvPr id="37" name="TextBox 37"/>
          <p:cNvSpPr txBox="1"/>
          <p:nvPr/>
        </p:nvSpPr>
        <p:spPr>
          <a:xfrm>
            <a:off x="10403909" y="4121064"/>
            <a:ext cx="6688438" cy="1189991"/>
          </a:xfrm>
          <a:prstGeom prst="rect">
            <a:avLst/>
          </a:prstGeom>
        </p:spPr>
        <p:txBody>
          <a:bodyPr lIns="0" tIns="0" rIns="0" bIns="0" rtlCol="0" anchor="t">
            <a:spAutoFit/>
          </a:bodyPr>
          <a:lstStyle/>
          <a:p>
            <a:pPr algn="l">
              <a:lnSpc>
                <a:spcPts val="4759"/>
              </a:lnSpc>
              <a:spcBef>
                <a:spcPct val="0"/>
              </a:spcBef>
            </a:pPr>
            <a:r>
              <a:rPr lang="en-US" sz="3399" b="1">
                <a:solidFill>
                  <a:srgbClr val="000000"/>
                </a:solidFill>
                <a:latin typeface="Abhaya Libre Bold"/>
                <a:ea typeface="Abhaya Libre Bold"/>
                <a:cs typeface="Abhaya Libre Bold"/>
                <a:sym typeface="Abhaya Libre Bold"/>
              </a:rPr>
              <a:t>Monitors object movement across frames.</a:t>
            </a:r>
          </a:p>
        </p:txBody>
      </p:sp>
      <p:sp>
        <p:nvSpPr>
          <p:cNvPr id="38" name="TextBox 38"/>
          <p:cNvSpPr txBox="1"/>
          <p:nvPr/>
        </p:nvSpPr>
        <p:spPr>
          <a:xfrm>
            <a:off x="3260980" y="7826337"/>
            <a:ext cx="5317982" cy="1790066"/>
          </a:xfrm>
          <a:prstGeom prst="rect">
            <a:avLst/>
          </a:prstGeom>
        </p:spPr>
        <p:txBody>
          <a:bodyPr lIns="0" tIns="0" rIns="0" bIns="0" rtlCol="0" anchor="t">
            <a:spAutoFit/>
          </a:bodyPr>
          <a:lstStyle/>
          <a:p>
            <a:pPr algn="l">
              <a:lnSpc>
                <a:spcPts val="4759"/>
              </a:lnSpc>
              <a:spcBef>
                <a:spcPct val="0"/>
              </a:spcBef>
            </a:pPr>
            <a:r>
              <a:rPr lang="en-US" sz="3399" b="1">
                <a:solidFill>
                  <a:srgbClr val="000000"/>
                </a:solidFill>
                <a:latin typeface="Abhaya Libre Bold"/>
                <a:ea typeface="Abhaya Libre Bold"/>
                <a:cs typeface="Abhaya Libre Bold"/>
                <a:sym typeface="Abhaya Libre Bold"/>
              </a:rPr>
              <a:t>Identifies and classifies objects in images and Videos.</a:t>
            </a:r>
          </a:p>
          <a:p>
            <a:pPr algn="l">
              <a:lnSpc>
                <a:spcPts val="4759"/>
              </a:lnSpc>
              <a:spcBef>
                <a:spcPct val="0"/>
              </a:spcBef>
            </a:pPr>
            <a:endParaRPr lang="en-US" sz="3399" b="1">
              <a:solidFill>
                <a:srgbClr val="000000"/>
              </a:solidFill>
              <a:latin typeface="Abhaya Libre Bold"/>
              <a:ea typeface="Abhaya Libre Bold"/>
              <a:cs typeface="Abhaya Libre Bold"/>
              <a:sym typeface="Abhaya Libre Bold"/>
            </a:endParaRPr>
          </a:p>
        </p:txBody>
      </p:sp>
      <p:sp>
        <p:nvSpPr>
          <p:cNvPr id="39" name="TextBox 39"/>
          <p:cNvSpPr txBox="1"/>
          <p:nvPr/>
        </p:nvSpPr>
        <p:spPr>
          <a:xfrm>
            <a:off x="10607081" y="7826337"/>
            <a:ext cx="4995420" cy="1189991"/>
          </a:xfrm>
          <a:prstGeom prst="rect">
            <a:avLst/>
          </a:prstGeom>
        </p:spPr>
        <p:txBody>
          <a:bodyPr lIns="0" tIns="0" rIns="0" bIns="0" rtlCol="0" anchor="t">
            <a:spAutoFit/>
          </a:bodyPr>
          <a:lstStyle/>
          <a:p>
            <a:pPr algn="l">
              <a:lnSpc>
                <a:spcPts val="4759"/>
              </a:lnSpc>
              <a:spcBef>
                <a:spcPct val="0"/>
              </a:spcBef>
            </a:pPr>
            <a:r>
              <a:rPr lang="en-US" sz="3399" b="1">
                <a:solidFill>
                  <a:srgbClr val="000000"/>
                </a:solidFill>
                <a:latin typeface="Abhaya Libre Bold"/>
                <a:ea typeface="Abhaya Libre Bold"/>
                <a:cs typeface="Abhaya Libre Bold"/>
                <a:sym typeface="Abhaya Libre Bold"/>
              </a:rPr>
              <a:t>Designs user interface for interaction..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TextBox 2"/>
          <p:cNvSpPr txBox="1"/>
          <p:nvPr/>
        </p:nvSpPr>
        <p:spPr>
          <a:xfrm>
            <a:off x="5764721" y="9670867"/>
            <a:ext cx="6882108" cy="464820"/>
          </a:xfrm>
          <a:prstGeom prst="rect">
            <a:avLst/>
          </a:prstGeom>
        </p:spPr>
        <p:txBody>
          <a:bodyPr lIns="0" tIns="0" rIns="0" bIns="0" rtlCol="0" anchor="t">
            <a:spAutoFit/>
          </a:bodyPr>
          <a:lstStyle/>
          <a:p>
            <a:pPr algn="ctr">
              <a:lnSpc>
                <a:spcPts val="3779"/>
              </a:lnSpc>
            </a:pPr>
            <a:r>
              <a:rPr lang="en-US" sz="2700">
                <a:solidFill>
                  <a:srgbClr val="000000"/>
                </a:solidFill>
                <a:latin typeface="Alatsi"/>
                <a:ea typeface="Alatsi"/>
                <a:cs typeface="Alatsi"/>
                <a:sym typeface="Alatsi"/>
              </a:rPr>
              <a:t>Infosys Springboard 5.0</a:t>
            </a:r>
          </a:p>
        </p:txBody>
      </p:sp>
      <p:sp>
        <p:nvSpPr>
          <p:cNvPr id="3" name="AutoShape 3"/>
          <p:cNvSpPr/>
          <p:nvPr/>
        </p:nvSpPr>
        <p:spPr>
          <a:xfrm>
            <a:off x="-99761" y="9931852"/>
            <a:ext cx="7105264" cy="19050"/>
          </a:xfrm>
          <a:prstGeom prst="line">
            <a:avLst/>
          </a:prstGeom>
          <a:ln w="114300" cap="flat">
            <a:solidFill>
              <a:srgbClr val="9FC3D0"/>
            </a:solidFill>
            <a:prstDash val="solid"/>
            <a:headEnd type="none" w="sm" len="sm"/>
            <a:tailEnd type="none" w="sm" len="sm"/>
          </a:ln>
        </p:spPr>
      </p:sp>
      <p:sp>
        <p:nvSpPr>
          <p:cNvPr id="4" name="AutoShape 4"/>
          <p:cNvSpPr/>
          <p:nvPr/>
        </p:nvSpPr>
        <p:spPr>
          <a:xfrm>
            <a:off x="11430169" y="9941377"/>
            <a:ext cx="7105264" cy="19050"/>
          </a:xfrm>
          <a:prstGeom prst="line">
            <a:avLst/>
          </a:prstGeom>
          <a:ln w="114300" cap="flat">
            <a:solidFill>
              <a:srgbClr val="9FC3D0"/>
            </a:solidFill>
            <a:prstDash val="solid"/>
            <a:headEnd type="none" w="sm" len="sm"/>
            <a:tailEnd type="none" w="sm" len="sm"/>
          </a:ln>
        </p:spPr>
      </p:sp>
      <p:grpSp>
        <p:nvGrpSpPr>
          <p:cNvPr id="5" name="Group 5"/>
          <p:cNvGrpSpPr/>
          <p:nvPr/>
        </p:nvGrpSpPr>
        <p:grpSpPr>
          <a:xfrm>
            <a:off x="15859155" y="0"/>
            <a:ext cx="1562612" cy="1673225"/>
            <a:chOff x="0" y="0"/>
            <a:chExt cx="2083482" cy="2230967"/>
          </a:xfrm>
        </p:grpSpPr>
        <p:grpSp>
          <p:nvGrpSpPr>
            <p:cNvPr id="6" name="Group 6"/>
            <p:cNvGrpSpPr/>
            <p:nvPr/>
          </p:nvGrpSpPr>
          <p:grpSpPr>
            <a:xfrm>
              <a:off x="75599" y="0"/>
              <a:ext cx="1932284" cy="2230967"/>
              <a:chOff x="0" y="0"/>
              <a:chExt cx="703982" cy="812800"/>
            </a:xfrm>
          </p:grpSpPr>
          <p:sp>
            <p:nvSpPr>
              <p:cNvPr id="7" name="Freeform 7"/>
              <p:cNvSpPr/>
              <p:nvPr/>
            </p:nvSpPr>
            <p:spPr>
              <a:xfrm>
                <a:off x="0" y="0"/>
                <a:ext cx="703982" cy="812800"/>
              </a:xfrm>
              <a:custGeom>
                <a:avLst/>
                <a:gdLst/>
                <a:ahLst/>
                <a:cxnLst/>
                <a:rect l="l" t="t" r="r" b="b"/>
                <a:pathLst>
                  <a:path w="703982" h="812800">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E9C7C6"/>
              </a:solidFill>
            </p:spPr>
          </p:sp>
          <p:sp>
            <p:nvSpPr>
              <p:cNvPr id="8" name="TextBox 8"/>
              <p:cNvSpPr txBox="1"/>
              <p:nvPr/>
            </p:nvSpPr>
            <p:spPr>
              <a:xfrm>
                <a:off x="0" y="-47625"/>
                <a:ext cx="703982" cy="733425"/>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0" y="437582"/>
              <a:ext cx="2083482" cy="1241504"/>
            </a:xfrm>
            <a:prstGeom prst="rect">
              <a:avLst/>
            </a:prstGeom>
          </p:spPr>
          <p:txBody>
            <a:bodyPr lIns="0" tIns="0" rIns="0" bIns="0" rtlCol="0" anchor="t">
              <a:spAutoFit/>
            </a:bodyPr>
            <a:lstStyle/>
            <a:p>
              <a:pPr algn="ctr">
                <a:lnSpc>
                  <a:spcPts val="7805"/>
                </a:lnSpc>
              </a:pPr>
              <a:r>
                <a:rPr lang="en-US" sz="5575" b="1">
                  <a:solidFill>
                    <a:srgbClr val="000000"/>
                  </a:solidFill>
                  <a:latin typeface="Open Sans Bold"/>
                  <a:ea typeface="Open Sans Bold"/>
                  <a:cs typeface="Open Sans Bold"/>
                  <a:sym typeface="Open Sans Bold"/>
                </a:rPr>
                <a:t>4</a:t>
              </a:r>
            </a:p>
          </p:txBody>
        </p:sp>
      </p:grpSp>
      <p:sp>
        <p:nvSpPr>
          <p:cNvPr id="10" name="TextBox 10"/>
          <p:cNvSpPr txBox="1"/>
          <p:nvPr/>
        </p:nvSpPr>
        <p:spPr>
          <a:xfrm>
            <a:off x="2553980" y="147006"/>
            <a:ext cx="13180039" cy="1236339"/>
          </a:xfrm>
          <a:prstGeom prst="rect">
            <a:avLst/>
          </a:prstGeom>
        </p:spPr>
        <p:txBody>
          <a:bodyPr lIns="0" tIns="0" rIns="0" bIns="0" rtlCol="0" anchor="t">
            <a:spAutoFit/>
          </a:bodyPr>
          <a:lstStyle/>
          <a:p>
            <a:pPr algn="ctr">
              <a:lnSpc>
                <a:spcPts val="10080"/>
              </a:lnSpc>
            </a:pPr>
            <a:r>
              <a:rPr lang="en-US" sz="7200">
                <a:solidFill>
                  <a:srgbClr val="000000"/>
                </a:solidFill>
                <a:latin typeface="Girassol"/>
                <a:ea typeface="Girassol"/>
                <a:cs typeface="Girassol"/>
                <a:sym typeface="Girassol"/>
              </a:rPr>
              <a:t>IMAGE PROCESSING</a:t>
            </a:r>
          </a:p>
        </p:txBody>
      </p:sp>
      <p:sp>
        <p:nvSpPr>
          <p:cNvPr id="11" name="Freeform 11"/>
          <p:cNvSpPr/>
          <p:nvPr/>
        </p:nvSpPr>
        <p:spPr>
          <a:xfrm>
            <a:off x="-3246887" y="-949011"/>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2" name="Freeform 12"/>
          <p:cNvSpPr/>
          <p:nvPr/>
        </p:nvSpPr>
        <p:spPr>
          <a:xfrm>
            <a:off x="636455" y="7198726"/>
            <a:ext cx="16785312" cy="2529291"/>
          </a:xfrm>
          <a:custGeom>
            <a:avLst/>
            <a:gdLst/>
            <a:ahLst/>
            <a:cxnLst/>
            <a:rect l="l" t="t" r="r" b="b"/>
            <a:pathLst>
              <a:path w="16785312" h="2529291">
                <a:moveTo>
                  <a:pt x="0" y="0"/>
                </a:moveTo>
                <a:lnTo>
                  <a:pt x="16785312" y="0"/>
                </a:lnTo>
                <a:lnTo>
                  <a:pt x="16785312" y="2529291"/>
                </a:lnTo>
                <a:lnTo>
                  <a:pt x="0" y="2529291"/>
                </a:lnTo>
                <a:lnTo>
                  <a:pt x="0" y="0"/>
                </a:lnTo>
                <a:close/>
              </a:path>
            </a:pathLst>
          </a:custGeom>
          <a:blipFill>
            <a:blip r:embed="rId4"/>
            <a:stretch>
              <a:fillRect t="-24387" b="-24387"/>
            </a:stretch>
          </a:blipFill>
        </p:spPr>
      </p:sp>
      <p:sp>
        <p:nvSpPr>
          <p:cNvPr id="13" name="TextBox 13"/>
          <p:cNvSpPr txBox="1"/>
          <p:nvPr/>
        </p:nvSpPr>
        <p:spPr>
          <a:xfrm>
            <a:off x="636455" y="6293924"/>
            <a:ext cx="3869132" cy="717839"/>
          </a:xfrm>
          <a:prstGeom prst="rect">
            <a:avLst/>
          </a:prstGeom>
        </p:spPr>
        <p:txBody>
          <a:bodyPr lIns="0" tIns="0" rIns="0" bIns="0" rtlCol="0" anchor="t">
            <a:spAutoFit/>
          </a:bodyPr>
          <a:lstStyle/>
          <a:p>
            <a:pPr algn="l">
              <a:lnSpc>
                <a:spcPts val="5852"/>
              </a:lnSpc>
            </a:pPr>
            <a:r>
              <a:rPr lang="en-US" sz="4180">
                <a:solidFill>
                  <a:srgbClr val="000000"/>
                </a:solidFill>
                <a:latin typeface="Alatsi"/>
                <a:ea typeface="Alatsi"/>
                <a:cs typeface="Alatsi"/>
                <a:sym typeface="Alatsi"/>
              </a:rPr>
              <a:t>Sample Output:</a:t>
            </a:r>
          </a:p>
        </p:txBody>
      </p:sp>
      <p:sp>
        <p:nvSpPr>
          <p:cNvPr id="14" name="TextBox 14"/>
          <p:cNvSpPr txBox="1"/>
          <p:nvPr/>
        </p:nvSpPr>
        <p:spPr>
          <a:xfrm>
            <a:off x="1828549" y="1587500"/>
            <a:ext cx="4479528" cy="688976"/>
          </a:xfrm>
          <a:prstGeom prst="rect">
            <a:avLst/>
          </a:prstGeom>
        </p:spPr>
        <p:txBody>
          <a:bodyPr lIns="0" tIns="0" rIns="0" bIns="0" rtlCol="0" anchor="t">
            <a:spAutoFit/>
          </a:bodyPr>
          <a:lstStyle/>
          <a:p>
            <a:pPr algn="ctr">
              <a:lnSpc>
                <a:spcPts val="5599"/>
              </a:lnSpc>
              <a:spcBef>
                <a:spcPct val="0"/>
              </a:spcBef>
            </a:pPr>
            <a:r>
              <a:rPr lang="en-US" sz="3999">
                <a:solidFill>
                  <a:srgbClr val="000000"/>
                </a:solidFill>
                <a:latin typeface="Girassol"/>
                <a:ea typeface="Girassol"/>
                <a:cs typeface="Girassol"/>
                <a:sym typeface="Girassol"/>
              </a:rPr>
              <a:t>Overview &amp; Key Tasks</a:t>
            </a:r>
          </a:p>
        </p:txBody>
      </p:sp>
      <p:sp>
        <p:nvSpPr>
          <p:cNvPr id="15" name="TextBox 15"/>
          <p:cNvSpPr txBox="1"/>
          <p:nvPr/>
        </p:nvSpPr>
        <p:spPr>
          <a:xfrm>
            <a:off x="10387141" y="1587500"/>
            <a:ext cx="5472014" cy="688976"/>
          </a:xfrm>
          <a:prstGeom prst="rect">
            <a:avLst/>
          </a:prstGeom>
        </p:spPr>
        <p:txBody>
          <a:bodyPr lIns="0" tIns="0" rIns="0" bIns="0" rtlCol="0" anchor="t">
            <a:spAutoFit/>
          </a:bodyPr>
          <a:lstStyle/>
          <a:p>
            <a:pPr algn="ctr">
              <a:lnSpc>
                <a:spcPts val="5599"/>
              </a:lnSpc>
              <a:spcBef>
                <a:spcPct val="0"/>
              </a:spcBef>
            </a:pPr>
            <a:r>
              <a:rPr lang="en-US" sz="3999">
                <a:solidFill>
                  <a:srgbClr val="000000"/>
                </a:solidFill>
                <a:latin typeface="Girassol"/>
                <a:ea typeface="Girassol"/>
                <a:cs typeface="Girassol"/>
                <a:sym typeface="Girassol"/>
              </a:rPr>
              <a:t>Applications &amp; Importance</a:t>
            </a:r>
          </a:p>
        </p:txBody>
      </p:sp>
      <p:sp>
        <p:nvSpPr>
          <p:cNvPr id="16" name="AutoShape 16"/>
          <p:cNvSpPr/>
          <p:nvPr/>
        </p:nvSpPr>
        <p:spPr>
          <a:xfrm flipV="1">
            <a:off x="9529741" y="1974937"/>
            <a:ext cx="19050" cy="4244677"/>
          </a:xfrm>
          <a:prstGeom prst="line">
            <a:avLst/>
          </a:prstGeom>
          <a:ln w="104775" cap="flat">
            <a:solidFill>
              <a:srgbClr val="E9C7C6">
                <a:alpha val="48627"/>
              </a:srgbClr>
            </a:solidFill>
            <a:prstDash val="solid"/>
            <a:headEnd type="none" w="sm" len="sm"/>
            <a:tailEnd type="none" w="sm" len="sm"/>
          </a:ln>
        </p:spPr>
      </p:sp>
      <p:sp>
        <p:nvSpPr>
          <p:cNvPr id="17" name="TextBox 17"/>
          <p:cNvSpPr txBox="1"/>
          <p:nvPr/>
        </p:nvSpPr>
        <p:spPr>
          <a:xfrm>
            <a:off x="1828549" y="2362202"/>
            <a:ext cx="6862841" cy="3648075"/>
          </a:xfrm>
          <a:prstGeom prst="rect">
            <a:avLst/>
          </a:prstGeom>
        </p:spPr>
        <p:txBody>
          <a:bodyPr lIns="0" tIns="0" rIns="0" bIns="0" rtlCol="0" anchor="t">
            <a:spAutoFit/>
          </a:bodyPr>
          <a:lstStyle/>
          <a:p>
            <a:pPr marL="647698" lvl="1" indent="-323849" algn="just">
              <a:lnSpc>
                <a:spcPts val="4199"/>
              </a:lnSpc>
              <a:buFont typeface="Arial"/>
              <a:buChar char="•"/>
            </a:pPr>
            <a:r>
              <a:rPr lang="en-US" sz="2999">
                <a:solidFill>
                  <a:srgbClr val="000000"/>
                </a:solidFill>
                <a:latin typeface="Abhaya Libre"/>
                <a:ea typeface="Abhaya Libre"/>
                <a:cs typeface="Abhaya Libre"/>
                <a:sym typeface="Abhaya Libre"/>
              </a:rPr>
              <a:t>Uses OpenCV and Matplotlib for image analysis.</a:t>
            </a:r>
          </a:p>
          <a:p>
            <a:pPr marL="647698" lvl="1" indent="-323849" algn="just">
              <a:lnSpc>
                <a:spcPts val="4199"/>
              </a:lnSpc>
              <a:buFont typeface="Arial"/>
              <a:buChar char="•"/>
            </a:pPr>
            <a:r>
              <a:rPr lang="en-US" sz="2999">
                <a:solidFill>
                  <a:srgbClr val="000000"/>
                </a:solidFill>
                <a:latin typeface="Abhaya Libre"/>
                <a:ea typeface="Abhaya Libre"/>
                <a:cs typeface="Abhaya Libre"/>
                <a:sym typeface="Abhaya Libre"/>
              </a:rPr>
              <a:t>Tasks include image loading, visualization, color conversion, blurring, and pixel intensity analysis.</a:t>
            </a:r>
          </a:p>
          <a:p>
            <a:pPr marL="647698" lvl="1" indent="-323849" algn="just">
              <a:lnSpc>
                <a:spcPts val="4199"/>
              </a:lnSpc>
              <a:buFont typeface="Arial"/>
              <a:buChar char="•"/>
            </a:pPr>
            <a:r>
              <a:rPr lang="en-US" sz="2999">
                <a:solidFill>
                  <a:srgbClr val="000000"/>
                </a:solidFill>
                <a:latin typeface="Abhaya Libre"/>
                <a:ea typeface="Abhaya Libre"/>
                <a:cs typeface="Abhaya Libre"/>
                <a:sym typeface="Abhaya Libre"/>
              </a:rPr>
              <a:t>Enhances image quality and prepares data for advanced tasks.</a:t>
            </a:r>
          </a:p>
        </p:txBody>
      </p:sp>
      <p:sp>
        <p:nvSpPr>
          <p:cNvPr id="18" name="TextBox 18"/>
          <p:cNvSpPr txBox="1"/>
          <p:nvPr/>
        </p:nvSpPr>
        <p:spPr>
          <a:xfrm>
            <a:off x="9691728" y="2505077"/>
            <a:ext cx="6702000" cy="3648075"/>
          </a:xfrm>
          <a:prstGeom prst="rect">
            <a:avLst/>
          </a:prstGeom>
        </p:spPr>
        <p:txBody>
          <a:bodyPr lIns="0" tIns="0" rIns="0" bIns="0" rtlCol="0" anchor="t">
            <a:spAutoFit/>
          </a:bodyPr>
          <a:lstStyle/>
          <a:p>
            <a:pPr marL="647698" lvl="1" indent="-323849" algn="just">
              <a:lnSpc>
                <a:spcPts val="4199"/>
              </a:lnSpc>
              <a:buFont typeface="Arial"/>
              <a:buChar char="•"/>
            </a:pPr>
            <a:r>
              <a:rPr lang="en-US" sz="2999">
                <a:solidFill>
                  <a:srgbClr val="000000"/>
                </a:solidFill>
                <a:latin typeface="Abhaya Libre"/>
                <a:ea typeface="Abhaya Libre"/>
                <a:cs typeface="Abhaya Libre"/>
                <a:sym typeface="Abhaya Libre"/>
              </a:rPr>
              <a:t>Used in object detection, segmentation, and feature extraction.</a:t>
            </a:r>
          </a:p>
          <a:p>
            <a:pPr marL="647698" lvl="1" indent="-323849" algn="just">
              <a:lnSpc>
                <a:spcPts val="4199"/>
              </a:lnSpc>
              <a:buFont typeface="Arial"/>
              <a:buChar char="•"/>
            </a:pPr>
            <a:r>
              <a:rPr lang="en-US" sz="2999">
                <a:solidFill>
                  <a:srgbClr val="000000"/>
                </a:solidFill>
                <a:latin typeface="Abhaya Libre"/>
                <a:ea typeface="Abhaya Libre"/>
                <a:cs typeface="Abhaya Libre"/>
                <a:sym typeface="Abhaya Libre"/>
              </a:rPr>
              <a:t>Helps in medical imaging, satellite imagery, and noise reduction.</a:t>
            </a:r>
          </a:p>
          <a:p>
            <a:pPr marL="647698" lvl="1" indent="-323849" algn="just">
              <a:lnSpc>
                <a:spcPts val="4199"/>
              </a:lnSpc>
              <a:buFont typeface="Arial"/>
              <a:buChar char="•"/>
            </a:pPr>
            <a:r>
              <a:rPr lang="en-US" sz="2999">
                <a:solidFill>
                  <a:srgbClr val="000000"/>
                </a:solidFill>
                <a:latin typeface="Abhaya Libre"/>
                <a:ea typeface="Abhaya Libre"/>
                <a:cs typeface="Abhaya Libre"/>
                <a:sym typeface="Abhaya Libre"/>
              </a:rPr>
              <a:t>Provides foundational concepts for computer vision and AI-based analysis.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TextBox 2"/>
          <p:cNvSpPr txBox="1"/>
          <p:nvPr/>
        </p:nvSpPr>
        <p:spPr>
          <a:xfrm>
            <a:off x="5764721" y="9670867"/>
            <a:ext cx="6882108" cy="464820"/>
          </a:xfrm>
          <a:prstGeom prst="rect">
            <a:avLst/>
          </a:prstGeom>
        </p:spPr>
        <p:txBody>
          <a:bodyPr lIns="0" tIns="0" rIns="0" bIns="0" rtlCol="0" anchor="t">
            <a:spAutoFit/>
          </a:bodyPr>
          <a:lstStyle/>
          <a:p>
            <a:pPr algn="ctr">
              <a:lnSpc>
                <a:spcPts val="3779"/>
              </a:lnSpc>
            </a:pPr>
            <a:r>
              <a:rPr lang="en-US" sz="2700">
                <a:solidFill>
                  <a:srgbClr val="000000"/>
                </a:solidFill>
                <a:latin typeface="Alatsi"/>
                <a:ea typeface="Alatsi"/>
                <a:cs typeface="Alatsi"/>
                <a:sym typeface="Alatsi"/>
              </a:rPr>
              <a:t>Infosys Springboard 5.0</a:t>
            </a:r>
          </a:p>
        </p:txBody>
      </p:sp>
      <p:sp>
        <p:nvSpPr>
          <p:cNvPr id="3" name="AutoShape 3"/>
          <p:cNvSpPr/>
          <p:nvPr/>
        </p:nvSpPr>
        <p:spPr>
          <a:xfrm>
            <a:off x="-99761" y="9931852"/>
            <a:ext cx="7105264" cy="19050"/>
          </a:xfrm>
          <a:prstGeom prst="line">
            <a:avLst/>
          </a:prstGeom>
          <a:ln w="114300" cap="flat">
            <a:solidFill>
              <a:srgbClr val="9FC3D0"/>
            </a:solidFill>
            <a:prstDash val="solid"/>
            <a:headEnd type="none" w="sm" len="sm"/>
            <a:tailEnd type="none" w="sm" len="sm"/>
          </a:ln>
        </p:spPr>
      </p:sp>
      <p:sp>
        <p:nvSpPr>
          <p:cNvPr id="4" name="AutoShape 4"/>
          <p:cNvSpPr/>
          <p:nvPr/>
        </p:nvSpPr>
        <p:spPr>
          <a:xfrm>
            <a:off x="11430169" y="9941377"/>
            <a:ext cx="7105264" cy="19050"/>
          </a:xfrm>
          <a:prstGeom prst="line">
            <a:avLst/>
          </a:prstGeom>
          <a:ln w="114300" cap="flat">
            <a:solidFill>
              <a:srgbClr val="9FC3D0"/>
            </a:solidFill>
            <a:prstDash val="solid"/>
            <a:headEnd type="none" w="sm" len="sm"/>
            <a:tailEnd type="none" w="sm" len="sm"/>
          </a:ln>
        </p:spPr>
      </p:sp>
      <p:grpSp>
        <p:nvGrpSpPr>
          <p:cNvPr id="5" name="Group 5"/>
          <p:cNvGrpSpPr/>
          <p:nvPr/>
        </p:nvGrpSpPr>
        <p:grpSpPr>
          <a:xfrm>
            <a:off x="15859155" y="0"/>
            <a:ext cx="1562612" cy="1673225"/>
            <a:chOff x="0" y="0"/>
            <a:chExt cx="2083482" cy="2230967"/>
          </a:xfrm>
        </p:grpSpPr>
        <p:grpSp>
          <p:nvGrpSpPr>
            <p:cNvPr id="6" name="Group 6"/>
            <p:cNvGrpSpPr/>
            <p:nvPr/>
          </p:nvGrpSpPr>
          <p:grpSpPr>
            <a:xfrm>
              <a:off x="75599" y="0"/>
              <a:ext cx="1932284" cy="2230967"/>
              <a:chOff x="0" y="0"/>
              <a:chExt cx="703982" cy="812800"/>
            </a:xfrm>
          </p:grpSpPr>
          <p:sp>
            <p:nvSpPr>
              <p:cNvPr id="7" name="Freeform 7"/>
              <p:cNvSpPr/>
              <p:nvPr/>
            </p:nvSpPr>
            <p:spPr>
              <a:xfrm>
                <a:off x="0" y="0"/>
                <a:ext cx="703982" cy="812800"/>
              </a:xfrm>
              <a:custGeom>
                <a:avLst/>
                <a:gdLst/>
                <a:ahLst/>
                <a:cxnLst/>
                <a:rect l="l" t="t" r="r" b="b"/>
                <a:pathLst>
                  <a:path w="703982" h="812800">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E9C7C6"/>
              </a:solidFill>
            </p:spPr>
          </p:sp>
          <p:sp>
            <p:nvSpPr>
              <p:cNvPr id="8" name="TextBox 8"/>
              <p:cNvSpPr txBox="1"/>
              <p:nvPr/>
            </p:nvSpPr>
            <p:spPr>
              <a:xfrm>
                <a:off x="0" y="-47625"/>
                <a:ext cx="703982" cy="733425"/>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0" y="437582"/>
              <a:ext cx="2083482" cy="1241504"/>
            </a:xfrm>
            <a:prstGeom prst="rect">
              <a:avLst/>
            </a:prstGeom>
          </p:spPr>
          <p:txBody>
            <a:bodyPr lIns="0" tIns="0" rIns="0" bIns="0" rtlCol="0" anchor="t">
              <a:spAutoFit/>
            </a:bodyPr>
            <a:lstStyle/>
            <a:p>
              <a:pPr algn="ctr">
                <a:lnSpc>
                  <a:spcPts val="7805"/>
                </a:lnSpc>
              </a:pPr>
              <a:r>
                <a:rPr lang="en-US" sz="5575" b="1">
                  <a:solidFill>
                    <a:srgbClr val="000000"/>
                  </a:solidFill>
                  <a:latin typeface="Open Sans Bold"/>
                  <a:ea typeface="Open Sans Bold"/>
                  <a:cs typeface="Open Sans Bold"/>
                  <a:sym typeface="Open Sans Bold"/>
                </a:rPr>
                <a:t>5</a:t>
              </a:r>
            </a:p>
          </p:txBody>
        </p:sp>
      </p:grpSp>
      <p:sp>
        <p:nvSpPr>
          <p:cNvPr id="10" name="TextBox 10"/>
          <p:cNvSpPr txBox="1"/>
          <p:nvPr/>
        </p:nvSpPr>
        <p:spPr>
          <a:xfrm>
            <a:off x="2553980" y="147006"/>
            <a:ext cx="13180039" cy="1236339"/>
          </a:xfrm>
          <a:prstGeom prst="rect">
            <a:avLst/>
          </a:prstGeom>
        </p:spPr>
        <p:txBody>
          <a:bodyPr lIns="0" tIns="0" rIns="0" bIns="0" rtlCol="0" anchor="t">
            <a:spAutoFit/>
          </a:bodyPr>
          <a:lstStyle/>
          <a:p>
            <a:pPr algn="ctr">
              <a:lnSpc>
                <a:spcPts val="10080"/>
              </a:lnSpc>
            </a:pPr>
            <a:r>
              <a:rPr lang="en-US" sz="7200">
                <a:solidFill>
                  <a:srgbClr val="000000"/>
                </a:solidFill>
                <a:latin typeface="Girassol"/>
                <a:ea typeface="Girassol"/>
                <a:cs typeface="Girassol"/>
                <a:sym typeface="Girassol"/>
              </a:rPr>
              <a:t>OBJECT DETECTION</a:t>
            </a:r>
          </a:p>
        </p:txBody>
      </p:sp>
      <p:sp>
        <p:nvSpPr>
          <p:cNvPr id="11" name="Freeform 11"/>
          <p:cNvSpPr/>
          <p:nvPr/>
        </p:nvSpPr>
        <p:spPr>
          <a:xfrm>
            <a:off x="-3246887" y="-949011"/>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2" name="AutoShape 12"/>
          <p:cNvSpPr/>
          <p:nvPr/>
        </p:nvSpPr>
        <p:spPr>
          <a:xfrm flipV="1">
            <a:off x="9620259" y="1974203"/>
            <a:ext cx="0" cy="6968365"/>
          </a:xfrm>
          <a:prstGeom prst="line">
            <a:avLst/>
          </a:prstGeom>
          <a:ln w="104775" cap="flat">
            <a:solidFill>
              <a:srgbClr val="E9C7C6">
                <a:alpha val="48627"/>
              </a:srgbClr>
            </a:solidFill>
            <a:prstDash val="solid"/>
            <a:headEnd type="none" w="sm" len="sm"/>
            <a:tailEnd type="none" w="sm" len="sm"/>
          </a:ln>
        </p:spPr>
      </p:sp>
      <p:sp>
        <p:nvSpPr>
          <p:cNvPr id="13" name="Freeform 13"/>
          <p:cNvSpPr/>
          <p:nvPr/>
        </p:nvSpPr>
        <p:spPr>
          <a:xfrm>
            <a:off x="5764721" y="2377202"/>
            <a:ext cx="5051890" cy="6223793"/>
          </a:xfrm>
          <a:custGeom>
            <a:avLst/>
            <a:gdLst/>
            <a:ahLst/>
            <a:cxnLst/>
            <a:rect l="l" t="t" r="r" b="b"/>
            <a:pathLst>
              <a:path w="5051890" h="6223793">
                <a:moveTo>
                  <a:pt x="0" y="0"/>
                </a:moveTo>
                <a:lnTo>
                  <a:pt x="5051889" y="0"/>
                </a:lnTo>
                <a:lnTo>
                  <a:pt x="5051889" y="6223793"/>
                </a:lnTo>
                <a:lnTo>
                  <a:pt x="0" y="6223793"/>
                </a:lnTo>
                <a:lnTo>
                  <a:pt x="0" y="0"/>
                </a:lnTo>
                <a:close/>
              </a:path>
            </a:pathLst>
          </a:custGeom>
          <a:blipFill>
            <a:blip r:embed="rId4"/>
            <a:stretch>
              <a:fillRect t="-2953" b="-5093"/>
            </a:stretch>
          </a:blipFill>
        </p:spPr>
      </p:sp>
      <p:sp>
        <p:nvSpPr>
          <p:cNvPr id="14" name="TextBox 14"/>
          <p:cNvSpPr txBox="1"/>
          <p:nvPr/>
        </p:nvSpPr>
        <p:spPr>
          <a:xfrm>
            <a:off x="5764721" y="1557991"/>
            <a:ext cx="3869132" cy="722493"/>
          </a:xfrm>
          <a:prstGeom prst="rect">
            <a:avLst/>
          </a:prstGeom>
        </p:spPr>
        <p:txBody>
          <a:bodyPr lIns="0" tIns="0" rIns="0" bIns="0" rtlCol="0" anchor="t">
            <a:spAutoFit/>
          </a:bodyPr>
          <a:lstStyle/>
          <a:p>
            <a:pPr algn="l">
              <a:lnSpc>
                <a:spcPts val="5852"/>
              </a:lnSpc>
            </a:pPr>
            <a:r>
              <a:rPr lang="en-US" sz="4180">
                <a:solidFill>
                  <a:srgbClr val="000000"/>
                </a:solidFill>
                <a:latin typeface="Girassol"/>
                <a:ea typeface="Girassol"/>
                <a:cs typeface="Girassol"/>
                <a:sym typeface="Girassol"/>
              </a:rPr>
              <a:t>Sample Output</a:t>
            </a:r>
          </a:p>
        </p:txBody>
      </p:sp>
      <p:sp>
        <p:nvSpPr>
          <p:cNvPr id="15" name="TextBox 15"/>
          <p:cNvSpPr txBox="1"/>
          <p:nvPr/>
        </p:nvSpPr>
        <p:spPr>
          <a:xfrm>
            <a:off x="143013" y="1587500"/>
            <a:ext cx="5355375" cy="688976"/>
          </a:xfrm>
          <a:prstGeom prst="rect">
            <a:avLst/>
          </a:prstGeom>
        </p:spPr>
        <p:txBody>
          <a:bodyPr wrap="square" lIns="0" tIns="0" rIns="0" bIns="0" rtlCol="0" anchor="t">
            <a:spAutoFit/>
          </a:bodyPr>
          <a:lstStyle/>
          <a:p>
            <a:pPr algn="ctr">
              <a:lnSpc>
                <a:spcPts val="5599"/>
              </a:lnSpc>
              <a:spcBef>
                <a:spcPct val="0"/>
              </a:spcBef>
            </a:pPr>
            <a:r>
              <a:rPr lang="en-US" sz="3999" dirty="0">
                <a:solidFill>
                  <a:srgbClr val="000000"/>
                </a:solidFill>
                <a:latin typeface="Girassol"/>
                <a:ea typeface="Girassol"/>
                <a:cs typeface="Girassol"/>
                <a:sym typeface="Girassol"/>
              </a:rPr>
              <a:t>Overview &amp; Importance</a:t>
            </a:r>
          </a:p>
        </p:txBody>
      </p:sp>
      <p:sp>
        <p:nvSpPr>
          <p:cNvPr id="16" name="TextBox 16"/>
          <p:cNvSpPr txBox="1"/>
          <p:nvPr/>
        </p:nvSpPr>
        <p:spPr>
          <a:xfrm>
            <a:off x="11430169" y="1586853"/>
            <a:ext cx="5472014" cy="688976"/>
          </a:xfrm>
          <a:prstGeom prst="rect">
            <a:avLst/>
          </a:prstGeom>
        </p:spPr>
        <p:txBody>
          <a:bodyPr lIns="0" tIns="0" rIns="0" bIns="0" rtlCol="0" anchor="t">
            <a:spAutoFit/>
          </a:bodyPr>
          <a:lstStyle/>
          <a:p>
            <a:pPr algn="ctr">
              <a:lnSpc>
                <a:spcPts val="5599"/>
              </a:lnSpc>
              <a:spcBef>
                <a:spcPct val="0"/>
              </a:spcBef>
            </a:pPr>
            <a:r>
              <a:rPr lang="en-US" sz="3999">
                <a:solidFill>
                  <a:srgbClr val="000000"/>
                </a:solidFill>
                <a:latin typeface="Girassol"/>
                <a:ea typeface="Girassol"/>
                <a:cs typeface="Girassol"/>
                <a:sym typeface="Girassol"/>
              </a:rPr>
              <a:t>Applications &amp; Importance</a:t>
            </a:r>
          </a:p>
        </p:txBody>
      </p:sp>
      <p:sp>
        <p:nvSpPr>
          <p:cNvPr id="17" name="TextBox 17"/>
          <p:cNvSpPr txBox="1"/>
          <p:nvPr/>
        </p:nvSpPr>
        <p:spPr>
          <a:xfrm>
            <a:off x="143014" y="2209802"/>
            <a:ext cx="5355376" cy="6391275"/>
          </a:xfrm>
          <a:prstGeom prst="rect">
            <a:avLst/>
          </a:prstGeom>
        </p:spPr>
        <p:txBody>
          <a:bodyPr lIns="0" tIns="0" rIns="0" bIns="0" rtlCol="0" anchor="t">
            <a:spAutoFit/>
          </a:bodyPr>
          <a:lstStyle/>
          <a:p>
            <a:pPr marL="647702" lvl="1" indent="-323851" algn="just">
              <a:lnSpc>
                <a:spcPts val="4200"/>
              </a:lnSpc>
              <a:buFont typeface="Arial"/>
              <a:buChar char="•"/>
            </a:pPr>
            <a:r>
              <a:rPr lang="en-US" sz="3000">
                <a:solidFill>
                  <a:srgbClr val="000000"/>
                </a:solidFill>
                <a:latin typeface="Abhaya Libre"/>
                <a:ea typeface="Abhaya Libre"/>
                <a:cs typeface="Abhaya Libre"/>
                <a:sym typeface="Abhaya Libre"/>
              </a:rPr>
              <a:t>Real-time object detection in videos using Tiny-YOLOv3.</a:t>
            </a:r>
          </a:p>
          <a:p>
            <a:pPr marL="647702" lvl="1" indent="-323851" algn="just">
              <a:lnSpc>
                <a:spcPts val="4200"/>
              </a:lnSpc>
              <a:buFont typeface="Arial"/>
              <a:buChar char="•"/>
            </a:pPr>
            <a:r>
              <a:rPr lang="en-US" sz="3000">
                <a:solidFill>
                  <a:srgbClr val="000000"/>
                </a:solidFill>
                <a:latin typeface="Abhaya Libre"/>
                <a:ea typeface="Abhaya Libre"/>
                <a:cs typeface="Abhaya Libre"/>
                <a:sym typeface="Abhaya Libre"/>
              </a:rPr>
              <a:t>Uses ImageAI for efficient video frame analysis.</a:t>
            </a:r>
          </a:p>
          <a:p>
            <a:pPr marL="647702" lvl="1" indent="-323851" algn="just">
              <a:lnSpc>
                <a:spcPts val="4200"/>
              </a:lnSpc>
              <a:buFont typeface="Arial"/>
              <a:buChar char="•"/>
            </a:pPr>
            <a:r>
              <a:rPr lang="en-US" sz="3000">
                <a:solidFill>
                  <a:srgbClr val="000000"/>
                </a:solidFill>
                <a:latin typeface="Abhaya Libre"/>
                <a:ea typeface="Abhaya Libre"/>
                <a:cs typeface="Abhaya Libre"/>
                <a:sym typeface="Abhaya Libre"/>
              </a:rPr>
              <a:t>Lightweight and optimized for resource-limited devices.</a:t>
            </a:r>
          </a:p>
          <a:p>
            <a:pPr marL="647702" lvl="1" indent="-323851" algn="just">
              <a:lnSpc>
                <a:spcPts val="4200"/>
              </a:lnSpc>
              <a:buFont typeface="Arial"/>
              <a:buChar char="•"/>
            </a:pPr>
            <a:r>
              <a:rPr lang="en-US" sz="3000">
                <a:solidFill>
                  <a:srgbClr val="000000"/>
                </a:solidFill>
                <a:latin typeface="Abhaya Libre"/>
                <a:ea typeface="Abhaya Libre"/>
                <a:cs typeface="Abhaya Libre"/>
                <a:sym typeface="Abhaya Libre"/>
              </a:rPr>
              <a:t>Enhances security, automation, and data-driven decision-making</a:t>
            </a:r>
          </a:p>
          <a:p>
            <a:pPr marL="647702" lvl="1" indent="-323851" algn="just">
              <a:lnSpc>
                <a:spcPts val="4200"/>
              </a:lnSpc>
              <a:buFont typeface="Arial"/>
              <a:buChar char="•"/>
            </a:pPr>
            <a:r>
              <a:rPr lang="en-US" sz="3000">
                <a:solidFill>
                  <a:srgbClr val="000000"/>
                </a:solidFill>
                <a:latin typeface="Abhaya Libre"/>
                <a:ea typeface="Abhaya Libre"/>
                <a:cs typeface="Abhaya Libre"/>
                <a:sym typeface="Abhaya Libre"/>
              </a:rPr>
              <a:t> Used in surveillance, traffic monitoring, and retail analytics.</a:t>
            </a:r>
          </a:p>
        </p:txBody>
      </p:sp>
      <p:sp>
        <p:nvSpPr>
          <p:cNvPr id="18" name="TextBox 18"/>
          <p:cNvSpPr txBox="1"/>
          <p:nvPr/>
        </p:nvSpPr>
        <p:spPr>
          <a:xfrm>
            <a:off x="10816610" y="2200277"/>
            <a:ext cx="7246689" cy="7766449"/>
          </a:xfrm>
          <a:prstGeom prst="rect">
            <a:avLst/>
          </a:prstGeom>
        </p:spPr>
        <p:txBody>
          <a:bodyPr lIns="0" tIns="0" rIns="0" bIns="0" rtlCol="0" anchor="t">
            <a:spAutoFit/>
          </a:bodyPr>
          <a:lstStyle/>
          <a:p>
            <a:pPr algn="just">
              <a:lnSpc>
                <a:spcPts val="4620"/>
              </a:lnSpc>
            </a:pPr>
            <a:r>
              <a:rPr lang="en-US" sz="3300" b="1">
                <a:solidFill>
                  <a:srgbClr val="000000"/>
                </a:solidFill>
                <a:latin typeface="Abhaya Libre Bold"/>
                <a:ea typeface="Abhaya Libre Bold"/>
                <a:cs typeface="Abhaya Libre Bold"/>
                <a:sym typeface="Abhaya Libre Bold"/>
              </a:rPr>
              <a:t>Why YOLO?</a:t>
            </a:r>
          </a:p>
          <a:p>
            <a:pPr marL="626109" lvl="1" indent="-313054" algn="just">
              <a:lnSpc>
                <a:spcPts val="4059"/>
              </a:lnSpc>
              <a:buFont typeface="Arial"/>
              <a:buChar char="•"/>
            </a:pPr>
            <a:r>
              <a:rPr lang="en-US" sz="2899">
                <a:solidFill>
                  <a:srgbClr val="000000"/>
                </a:solidFill>
                <a:latin typeface="Abhaya Libre"/>
                <a:ea typeface="Abhaya Libre"/>
                <a:cs typeface="Abhaya Libre"/>
                <a:sym typeface="Abhaya Libre"/>
              </a:rPr>
              <a:t>Fast &amp; Efficient – Processes the entire image in one pass, ensuring real-time detection.</a:t>
            </a:r>
          </a:p>
          <a:p>
            <a:pPr marL="626109" lvl="1" indent="-313054" algn="just">
              <a:lnSpc>
                <a:spcPts val="4059"/>
              </a:lnSpc>
              <a:buFont typeface="Arial"/>
              <a:buChar char="•"/>
            </a:pPr>
            <a:r>
              <a:rPr lang="en-US" sz="2899">
                <a:solidFill>
                  <a:srgbClr val="000000"/>
                </a:solidFill>
                <a:latin typeface="Abhaya Libre"/>
                <a:ea typeface="Abhaya Libre"/>
                <a:cs typeface="Abhaya Libre"/>
                <a:sym typeface="Abhaya Libre"/>
              </a:rPr>
              <a:t>Versatile &amp; Scalable – Outperforms multi-stage models like R-CNN, ideal for surveillance, traffic monitoring, and automation.</a:t>
            </a:r>
          </a:p>
          <a:p>
            <a:pPr algn="just">
              <a:lnSpc>
                <a:spcPts val="4620"/>
              </a:lnSpc>
            </a:pPr>
            <a:r>
              <a:rPr lang="en-US" sz="3300" b="1">
                <a:solidFill>
                  <a:srgbClr val="000000"/>
                </a:solidFill>
                <a:latin typeface="Abhaya Libre Bold"/>
                <a:ea typeface="Abhaya Libre Bold"/>
                <a:cs typeface="Abhaya Libre Bold"/>
                <a:sym typeface="Abhaya Libre Bold"/>
              </a:rPr>
              <a:t>Use Cases:</a:t>
            </a:r>
          </a:p>
          <a:p>
            <a:pPr marL="626109" lvl="1" indent="-313054" algn="just">
              <a:lnSpc>
                <a:spcPts val="4059"/>
              </a:lnSpc>
              <a:buFont typeface="Arial"/>
              <a:buChar char="•"/>
            </a:pPr>
            <a:r>
              <a:rPr lang="en-US" sz="2899">
                <a:solidFill>
                  <a:srgbClr val="000000"/>
                </a:solidFill>
                <a:latin typeface="Abhaya Libre"/>
                <a:ea typeface="Abhaya Libre"/>
                <a:cs typeface="Abhaya Libre"/>
                <a:sym typeface="Abhaya Libre"/>
              </a:rPr>
              <a:t>Security &amp; Monitoring – Detects threats, tracks objects in surveillance, and analyzes traffic violations.</a:t>
            </a:r>
          </a:p>
          <a:p>
            <a:pPr marL="626109" lvl="1" indent="-313054" algn="just">
              <a:lnSpc>
                <a:spcPts val="4059"/>
              </a:lnSpc>
              <a:buFont typeface="Arial"/>
              <a:buChar char="•"/>
            </a:pPr>
            <a:r>
              <a:rPr lang="en-US" sz="2899">
                <a:solidFill>
                  <a:srgbClr val="000000"/>
                </a:solidFill>
                <a:latin typeface="Abhaya Libre"/>
                <a:ea typeface="Abhaya Libre"/>
                <a:cs typeface="Abhaya Libre"/>
                <a:sym typeface="Abhaya Libre"/>
              </a:rPr>
              <a:t>Retail &amp; Wildlife – Enhances customer analytics and enables automated wildlife tracking with drones.</a:t>
            </a:r>
          </a:p>
          <a:p>
            <a:pPr algn="just">
              <a:lnSpc>
                <a:spcPts val="3385"/>
              </a:lnSpc>
            </a:pPr>
            <a:endParaRPr lang="en-US" sz="2899">
              <a:solidFill>
                <a:srgbClr val="000000"/>
              </a:solidFill>
              <a:latin typeface="Abhaya Libre"/>
              <a:ea typeface="Abhaya Libre"/>
              <a:cs typeface="Abhaya Libre"/>
              <a:sym typeface="Abhaya Libre"/>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TextBox 2"/>
          <p:cNvSpPr txBox="1"/>
          <p:nvPr/>
        </p:nvSpPr>
        <p:spPr>
          <a:xfrm>
            <a:off x="2282349" y="333745"/>
            <a:ext cx="13180039" cy="1450976"/>
          </a:xfrm>
          <a:prstGeom prst="rect">
            <a:avLst/>
          </a:prstGeom>
        </p:spPr>
        <p:txBody>
          <a:bodyPr lIns="0" tIns="0" rIns="0" bIns="0" rtlCol="0" anchor="t">
            <a:spAutoFit/>
          </a:bodyPr>
          <a:lstStyle/>
          <a:p>
            <a:pPr algn="ctr">
              <a:lnSpc>
                <a:spcPts val="11899"/>
              </a:lnSpc>
            </a:pPr>
            <a:r>
              <a:rPr lang="en-US" sz="8499">
                <a:solidFill>
                  <a:srgbClr val="000000"/>
                </a:solidFill>
                <a:latin typeface="Girassol"/>
                <a:ea typeface="Girassol"/>
                <a:cs typeface="Girassol"/>
                <a:sym typeface="Girassol"/>
              </a:rPr>
              <a:t>OBJECT TRACKING</a:t>
            </a:r>
          </a:p>
        </p:txBody>
      </p:sp>
      <p:sp>
        <p:nvSpPr>
          <p:cNvPr id="3" name="TextBox 3"/>
          <p:cNvSpPr txBox="1"/>
          <p:nvPr/>
        </p:nvSpPr>
        <p:spPr>
          <a:xfrm>
            <a:off x="5380399" y="9518748"/>
            <a:ext cx="6882108" cy="464820"/>
          </a:xfrm>
          <a:prstGeom prst="rect">
            <a:avLst/>
          </a:prstGeom>
        </p:spPr>
        <p:txBody>
          <a:bodyPr lIns="0" tIns="0" rIns="0" bIns="0" rtlCol="0" anchor="t">
            <a:spAutoFit/>
          </a:bodyPr>
          <a:lstStyle/>
          <a:p>
            <a:pPr algn="ctr">
              <a:lnSpc>
                <a:spcPts val="3779"/>
              </a:lnSpc>
            </a:pPr>
            <a:r>
              <a:rPr lang="en-US" sz="2700">
                <a:solidFill>
                  <a:srgbClr val="000000"/>
                </a:solidFill>
                <a:latin typeface="Alatsi"/>
                <a:ea typeface="Alatsi"/>
                <a:cs typeface="Alatsi"/>
                <a:sym typeface="Alatsi"/>
              </a:rPr>
              <a:t>Infosys Springboard 5.0</a:t>
            </a:r>
          </a:p>
        </p:txBody>
      </p:sp>
      <p:sp>
        <p:nvSpPr>
          <p:cNvPr id="4" name="AutoShape 4"/>
          <p:cNvSpPr/>
          <p:nvPr/>
        </p:nvSpPr>
        <p:spPr>
          <a:xfrm>
            <a:off x="475" y="9751158"/>
            <a:ext cx="6879129" cy="57150"/>
          </a:xfrm>
          <a:prstGeom prst="line">
            <a:avLst/>
          </a:prstGeom>
          <a:ln w="114300" cap="flat">
            <a:solidFill>
              <a:srgbClr val="9FC3D0"/>
            </a:solidFill>
            <a:prstDash val="solid"/>
            <a:headEnd type="none" w="sm" len="sm"/>
            <a:tailEnd type="none" w="sm" len="sm"/>
          </a:ln>
        </p:spPr>
      </p:sp>
      <p:grpSp>
        <p:nvGrpSpPr>
          <p:cNvPr id="5" name="Group 5"/>
          <p:cNvGrpSpPr/>
          <p:nvPr/>
        </p:nvGrpSpPr>
        <p:grpSpPr>
          <a:xfrm>
            <a:off x="16477994" y="0"/>
            <a:ext cx="1562612" cy="1673225"/>
            <a:chOff x="0" y="0"/>
            <a:chExt cx="2083482" cy="2230967"/>
          </a:xfrm>
        </p:grpSpPr>
        <p:grpSp>
          <p:nvGrpSpPr>
            <p:cNvPr id="6" name="Group 6"/>
            <p:cNvGrpSpPr/>
            <p:nvPr/>
          </p:nvGrpSpPr>
          <p:grpSpPr>
            <a:xfrm>
              <a:off x="75599" y="0"/>
              <a:ext cx="1932284" cy="2230967"/>
              <a:chOff x="0" y="0"/>
              <a:chExt cx="703982" cy="812800"/>
            </a:xfrm>
          </p:grpSpPr>
          <p:sp>
            <p:nvSpPr>
              <p:cNvPr id="7" name="Freeform 7"/>
              <p:cNvSpPr/>
              <p:nvPr/>
            </p:nvSpPr>
            <p:spPr>
              <a:xfrm>
                <a:off x="0" y="0"/>
                <a:ext cx="703982" cy="812800"/>
              </a:xfrm>
              <a:custGeom>
                <a:avLst/>
                <a:gdLst/>
                <a:ahLst/>
                <a:cxnLst/>
                <a:rect l="l" t="t" r="r" b="b"/>
                <a:pathLst>
                  <a:path w="703982" h="812800">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E9C7C6"/>
              </a:solidFill>
            </p:spPr>
          </p:sp>
          <p:sp>
            <p:nvSpPr>
              <p:cNvPr id="8" name="TextBox 8"/>
              <p:cNvSpPr txBox="1"/>
              <p:nvPr/>
            </p:nvSpPr>
            <p:spPr>
              <a:xfrm>
                <a:off x="0" y="-47625"/>
                <a:ext cx="703982" cy="733425"/>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0" y="437582"/>
              <a:ext cx="2083482" cy="1241504"/>
            </a:xfrm>
            <a:prstGeom prst="rect">
              <a:avLst/>
            </a:prstGeom>
          </p:spPr>
          <p:txBody>
            <a:bodyPr lIns="0" tIns="0" rIns="0" bIns="0" rtlCol="0" anchor="t">
              <a:spAutoFit/>
            </a:bodyPr>
            <a:lstStyle/>
            <a:p>
              <a:pPr algn="ctr">
                <a:lnSpc>
                  <a:spcPts val="7805"/>
                </a:lnSpc>
              </a:pPr>
              <a:r>
                <a:rPr lang="en-US" sz="5575" b="1">
                  <a:solidFill>
                    <a:srgbClr val="000000"/>
                  </a:solidFill>
                  <a:latin typeface="Open Sans Bold"/>
                  <a:ea typeface="Open Sans Bold"/>
                  <a:cs typeface="Open Sans Bold"/>
                  <a:sym typeface="Open Sans Bold"/>
                </a:rPr>
                <a:t>6</a:t>
              </a:r>
            </a:p>
          </p:txBody>
        </p:sp>
      </p:grpSp>
      <p:sp>
        <p:nvSpPr>
          <p:cNvPr id="10" name="Freeform 10"/>
          <p:cNvSpPr/>
          <p:nvPr/>
        </p:nvSpPr>
        <p:spPr>
          <a:xfrm>
            <a:off x="-2231821" y="-210192"/>
            <a:ext cx="7315200" cy="2477783"/>
          </a:xfrm>
          <a:custGeom>
            <a:avLst/>
            <a:gdLst/>
            <a:ahLst/>
            <a:cxnLst/>
            <a:rect l="l" t="t" r="r" b="b"/>
            <a:pathLst>
              <a:path w="7315200" h="2477783">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1" name="Freeform 11"/>
          <p:cNvSpPr/>
          <p:nvPr/>
        </p:nvSpPr>
        <p:spPr>
          <a:xfrm>
            <a:off x="10972800" y="8143862"/>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2" name="TextBox 12"/>
          <p:cNvSpPr txBox="1"/>
          <p:nvPr/>
        </p:nvSpPr>
        <p:spPr>
          <a:xfrm>
            <a:off x="689670" y="2003796"/>
            <a:ext cx="7517147" cy="3481705"/>
          </a:xfrm>
          <a:prstGeom prst="rect">
            <a:avLst/>
          </a:prstGeom>
        </p:spPr>
        <p:txBody>
          <a:bodyPr lIns="0" tIns="0" rIns="0" bIns="0" rtlCol="0" anchor="t">
            <a:spAutoFit/>
          </a:bodyPr>
          <a:lstStyle/>
          <a:p>
            <a:pPr algn="l">
              <a:lnSpc>
                <a:spcPts val="4480"/>
              </a:lnSpc>
              <a:spcBef>
                <a:spcPct val="0"/>
              </a:spcBef>
            </a:pPr>
            <a:r>
              <a:rPr lang="en-US" sz="3200">
                <a:solidFill>
                  <a:srgbClr val="000000"/>
                </a:solidFill>
                <a:latin typeface="Girassol"/>
                <a:ea typeface="Girassol"/>
                <a:cs typeface="Girassol"/>
                <a:sym typeface="Girassol"/>
              </a:rPr>
              <a:t>•Introduction:</a:t>
            </a:r>
          </a:p>
          <a:p>
            <a:pPr algn="just">
              <a:lnSpc>
                <a:spcPts val="3359"/>
              </a:lnSpc>
              <a:spcBef>
                <a:spcPct val="0"/>
              </a:spcBef>
            </a:pPr>
            <a:r>
              <a:rPr lang="en-US" sz="2400">
                <a:solidFill>
                  <a:srgbClr val="000000"/>
                </a:solidFill>
                <a:latin typeface="Canva Sans"/>
                <a:ea typeface="Canva Sans"/>
                <a:cs typeface="Canva Sans"/>
                <a:sym typeface="Canva Sans"/>
              </a:rPr>
              <a:t>•The project focuses on object detection and tracking using YOLOv4.</a:t>
            </a:r>
          </a:p>
          <a:p>
            <a:pPr algn="just">
              <a:lnSpc>
                <a:spcPts val="3359"/>
              </a:lnSpc>
              <a:spcBef>
                <a:spcPct val="0"/>
              </a:spcBef>
            </a:pPr>
            <a:r>
              <a:rPr lang="en-US" sz="2400">
                <a:solidFill>
                  <a:srgbClr val="000000"/>
                </a:solidFill>
                <a:latin typeface="Canva Sans"/>
                <a:ea typeface="Canva Sans"/>
                <a:cs typeface="Canva Sans"/>
                <a:sym typeface="Canva Sans"/>
              </a:rPr>
              <a:t>•YOLOv4 is a real-time deep learning model.</a:t>
            </a:r>
          </a:p>
          <a:p>
            <a:pPr algn="just">
              <a:lnSpc>
                <a:spcPts val="3359"/>
              </a:lnSpc>
              <a:spcBef>
                <a:spcPct val="0"/>
              </a:spcBef>
            </a:pPr>
            <a:r>
              <a:rPr lang="en-US" sz="2400">
                <a:solidFill>
                  <a:srgbClr val="000000"/>
                </a:solidFill>
                <a:latin typeface="Canva Sans"/>
                <a:ea typeface="Canva Sans"/>
                <a:cs typeface="Canva Sans"/>
                <a:sym typeface="Canva Sans"/>
              </a:rPr>
              <a:t>•It detects objects in video frames and tracks their movement.</a:t>
            </a:r>
          </a:p>
          <a:p>
            <a:pPr algn="just">
              <a:lnSpc>
                <a:spcPts val="3359"/>
              </a:lnSpc>
              <a:spcBef>
                <a:spcPct val="0"/>
              </a:spcBef>
            </a:pPr>
            <a:r>
              <a:rPr lang="en-US" sz="2400">
                <a:solidFill>
                  <a:srgbClr val="000000"/>
                </a:solidFill>
                <a:latin typeface="Canva Sans"/>
                <a:ea typeface="Canva Sans"/>
                <a:cs typeface="Canva Sans"/>
                <a:sym typeface="Canva Sans"/>
              </a:rPr>
              <a:t>•The output is a processed video with bounding boxes and unique IDs for each object.</a:t>
            </a:r>
          </a:p>
        </p:txBody>
      </p:sp>
      <p:sp>
        <p:nvSpPr>
          <p:cNvPr id="13" name="AutoShape 13"/>
          <p:cNvSpPr/>
          <p:nvPr/>
        </p:nvSpPr>
        <p:spPr>
          <a:xfrm flipV="1">
            <a:off x="10635489" y="9779733"/>
            <a:ext cx="7404668" cy="57148"/>
          </a:xfrm>
          <a:prstGeom prst="line">
            <a:avLst/>
          </a:prstGeom>
          <a:ln w="114300" cap="flat">
            <a:solidFill>
              <a:srgbClr val="9FC3D0"/>
            </a:solidFill>
            <a:prstDash val="solid"/>
            <a:headEnd type="none" w="sm" len="sm"/>
            <a:tailEnd type="none" w="sm" len="sm"/>
          </a:ln>
        </p:spPr>
      </p:sp>
      <p:sp>
        <p:nvSpPr>
          <p:cNvPr id="14" name="TextBox 14"/>
          <p:cNvSpPr txBox="1"/>
          <p:nvPr/>
        </p:nvSpPr>
        <p:spPr>
          <a:xfrm>
            <a:off x="9279285" y="2003796"/>
            <a:ext cx="7980015" cy="3759173"/>
          </a:xfrm>
          <a:prstGeom prst="rect">
            <a:avLst/>
          </a:prstGeom>
        </p:spPr>
        <p:txBody>
          <a:bodyPr lIns="0" tIns="0" rIns="0" bIns="0" rtlCol="0" anchor="t">
            <a:spAutoFit/>
          </a:bodyPr>
          <a:lstStyle/>
          <a:p>
            <a:pPr algn="l">
              <a:lnSpc>
                <a:spcPts val="4480"/>
              </a:lnSpc>
            </a:pPr>
            <a:r>
              <a:rPr lang="en-US" sz="3200">
                <a:solidFill>
                  <a:srgbClr val="000000"/>
                </a:solidFill>
                <a:latin typeface="Girassol"/>
                <a:ea typeface="Girassol"/>
                <a:cs typeface="Girassol"/>
                <a:sym typeface="Girassol"/>
              </a:rPr>
              <a:t>•Why YOLO is Used for Object Tracking:</a:t>
            </a:r>
          </a:p>
          <a:p>
            <a:pPr algn="l">
              <a:lnSpc>
                <a:spcPts val="3359"/>
              </a:lnSpc>
            </a:pPr>
            <a:r>
              <a:rPr lang="en-US" sz="2400">
                <a:solidFill>
                  <a:srgbClr val="000000"/>
                </a:solidFill>
                <a:latin typeface="Canva Sans"/>
                <a:ea typeface="Canva Sans"/>
                <a:cs typeface="Canva Sans"/>
                <a:sym typeface="Canva Sans"/>
              </a:rPr>
              <a:t>•Real-time speed and accuracy with a single-stage design.</a:t>
            </a:r>
          </a:p>
          <a:p>
            <a:pPr algn="l">
              <a:lnSpc>
                <a:spcPts val="3359"/>
              </a:lnSpc>
            </a:pPr>
            <a:r>
              <a:rPr lang="en-US" sz="2400">
                <a:solidFill>
                  <a:srgbClr val="000000"/>
                </a:solidFill>
                <a:latin typeface="Canva Sans"/>
                <a:ea typeface="Canva Sans"/>
                <a:cs typeface="Canva Sans"/>
                <a:sym typeface="Canva Sans"/>
              </a:rPr>
              <a:t>•Combines detection and tracking in one process.</a:t>
            </a:r>
          </a:p>
          <a:p>
            <a:pPr algn="l">
              <a:lnSpc>
                <a:spcPts val="3359"/>
              </a:lnSpc>
            </a:pPr>
            <a:r>
              <a:rPr lang="en-US" sz="2400">
                <a:solidFill>
                  <a:srgbClr val="000000"/>
                </a:solidFill>
                <a:latin typeface="Canva Sans"/>
                <a:ea typeface="Canva Sans"/>
                <a:cs typeface="Canva Sans"/>
                <a:sym typeface="Canva Sans"/>
              </a:rPr>
              <a:t>•Minimizes false positives, even on resource-limited devices.</a:t>
            </a:r>
          </a:p>
          <a:p>
            <a:pPr algn="l">
              <a:lnSpc>
                <a:spcPts val="3359"/>
              </a:lnSpc>
            </a:pPr>
            <a:r>
              <a:rPr lang="en-US" sz="2400">
                <a:solidFill>
                  <a:srgbClr val="000000"/>
                </a:solidFill>
                <a:latin typeface="Canva Sans"/>
                <a:ea typeface="Canva Sans"/>
                <a:cs typeface="Canva Sans"/>
                <a:sym typeface="Canva Sans"/>
              </a:rPr>
              <a:t>•Ideal for surveillance and traffic monitoring applications.</a:t>
            </a:r>
          </a:p>
          <a:p>
            <a:pPr algn="just">
              <a:lnSpc>
                <a:spcPts val="2172"/>
              </a:lnSpc>
              <a:spcBef>
                <a:spcPct val="0"/>
              </a:spcBef>
            </a:pPr>
            <a:endParaRPr lang="en-US" sz="2400">
              <a:solidFill>
                <a:srgbClr val="000000"/>
              </a:solidFill>
              <a:latin typeface="Canva Sans"/>
              <a:ea typeface="Canva Sans"/>
              <a:cs typeface="Canva Sans"/>
              <a:sym typeface="Canva Sans"/>
            </a:endParaRPr>
          </a:p>
        </p:txBody>
      </p:sp>
      <p:sp>
        <p:nvSpPr>
          <p:cNvPr id="15" name="TextBox 15"/>
          <p:cNvSpPr txBox="1"/>
          <p:nvPr/>
        </p:nvSpPr>
        <p:spPr>
          <a:xfrm>
            <a:off x="689670" y="5962624"/>
            <a:ext cx="7517147" cy="3455105"/>
          </a:xfrm>
          <a:prstGeom prst="rect">
            <a:avLst/>
          </a:prstGeom>
        </p:spPr>
        <p:txBody>
          <a:bodyPr lIns="0" tIns="0" rIns="0" bIns="0" rtlCol="0" anchor="t">
            <a:spAutoFit/>
          </a:bodyPr>
          <a:lstStyle/>
          <a:p>
            <a:pPr algn="l">
              <a:lnSpc>
                <a:spcPts val="4480"/>
              </a:lnSpc>
            </a:pPr>
            <a:r>
              <a:rPr lang="en-US" sz="3200">
                <a:solidFill>
                  <a:srgbClr val="000000"/>
                </a:solidFill>
                <a:latin typeface="Girassol"/>
                <a:ea typeface="Girassol"/>
                <a:cs typeface="Girassol"/>
                <a:sym typeface="Girassol"/>
              </a:rPr>
              <a:t>•Use Cases:</a:t>
            </a:r>
          </a:p>
          <a:p>
            <a:pPr algn="l">
              <a:lnSpc>
                <a:spcPts val="3359"/>
              </a:lnSpc>
            </a:pPr>
            <a:r>
              <a:rPr lang="en-US" sz="2400">
                <a:solidFill>
                  <a:srgbClr val="000000"/>
                </a:solidFill>
                <a:latin typeface="Canva Sans"/>
                <a:ea typeface="Canva Sans"/>
                <a:cs typeface="Canva Sans"/>
                <a:sym typeface="Canva Sans"/>
              </a:rPr>
              <a:t>•Traffic Monitoring: Detecting and tracking vehicles.</a:t>
            </a:r>
          </a:p>
          <a:p>
            <a:pPr algn="l">
              <a:lnSpc>
                <a:spcPts val="3359"/>
              </a:lnSpc>
            </a:pPr>
            <a:r>
              <a:rPr lang="en-US" sz="2400">
                <a:solidFill>
                  <a:srgbClr val="000000"/>
                </a:solidFill>
                <a:latin typeface="Canva Sans"/>
                <a:ea typeface="Canva Sans"/>
                <a:cs typeface="Canva Sans"/>
                <a:sym typeface="Canva Sans"/>
              </a:rPr>
              <a:t>•Surveillance Systems: Monitoring people or objects in restricted zones.</a:t>
            </a:r>
          </a:p>
          <a:p>
            <a:pPr algn="l">
              <a:lnSpc>
                <a:spcPts val="3359"/>
              </a:lnSpc>
            </a:pPr>
            <a:r>
              <a:rPr lang="en-US" sz="2400">
                <a:solidFill>
                  <a:srgbClr val="000000"/>
                </a:solidFill>
                <a:latin typeface="Canva Sans"/>
                <a:ea typeface="Canva Sans"/>
                <a:cs typeface="Canva Sans"/>
                <a:sym typeface="Canva Sans"/>
              </a:rPr>
              <a:t>•Sports Analytics: Tracking players or objects like balls in games.</a:t>
            </a:r>
          </a:p>
          <a:p>
            <a:pPr algn="just">
              <a:lnSpc>
                <a:spcPts val="3142"/>
              </a:lnSpc>
              <a:spcBef>
                <a:spcPct val="0"/>
              </a:spcBef>
            </a:pPr>
            <a:endParaRPr lang="en-US" sz="2400">
              <a:solidFill>
                <a:srgbClr val="000000"/>
              </a:solidFill>
              <a:latin typeface="Canva Sans"/>
              <a:ea typeface="Canva Sans"/>
              <a:cs typeface="Canva Sans"/>
              <a:sym typeface="Canva Sans"/>
            </a:endParaRPr>
          </a:p>
        </p:txBody>
      </p:sp>
      <p:sp>
        <p:nvSpPr>
          <p:cNvPr id="16" name="TextBox 16"/>
          <p:cNvSpPr txBox="1"/>
          <p:nvPr/>
        </p:nvSpPr>
        <p:spPr>
          <a:xfrm>
            <a:off x="9279285" y="5953099"/>
            <a:ext cx="7980015" cy="3008966"/>
          </a:xfrm>
          <a:prstGeom prst="rect">
            <a:avLst/>
          </a:prstGeom>
        </p:spPr>
        <p:txBody>
          <a:bodyPr lIns="0" tIns="0" rIns="0" bIns="0" rtlCol="0" anchor="t">
            <a:spAutoFit/>
          </a:bodyPr>
          <a:lstStyle/>
          <a:p>
            <a:pPr algn="l">
              <a:lnSpc>
                <a:spcPts val="4479"/>
              </a:lnSpc>
            </a:pPr>
            <a:r>
              <a:rPr lang="en-US" sz="3199">
                <a:solidFill>
                  <a:srgbClr val="000000"/>
                </a:solidFill>
                <a:latin typeface="Girassol"/>
                <a:ea typeface="Girassol"/>
                <a:cs typeface="Girassol"/>
                <a:sym typeface="Girassol"/>
              </a:rPr>
              <a:t>•Importance:</a:t>
            </a:r>
          </a:p>
          <a:p>
            <a:pPr algn="l">
              <a:lnSpc>
                <a:spcPts val="3359"/>
              </a:lnSpc>
            </a:pPr>
            <a:r>
              <a:rPr lang="en-US" sz="2400">
                <a:solidFill>
                  <a:srgbClr val="000000"/>
                </a:solidFill>
                <a:latin typeface="Canva Sans"/>
                <a:ea typeface="Canva Sans"/>
                <a:cs typeface="Canva Sans"/>
                <a:sym typeface="Canva Sans"/>
              </a:rPr>
              <a:t>The system is valuable for automation in tasks like traffic monitoring, surveillance, and sports analytics. It reduces the need for manual monitoring and enhances real-time decision-making capabilities.</a:t>
            </a:r>
          </a:p>
          <a:p>
            <a:pPr algn="l">
              <a:lnSpc>
                <a:spcPts val="3179"/>
              </a:lnSpc>
            </a:pPr>
            <a:endParaRPr lang="en-US" sz="2400">
              <a:solidFill>
                <a:srgbClr val="000000"/>
              </a:solidFill>
              <a:latin typeface="Canva Sans"/>
              <a:ea typeface="Canva Sans"/>
              <a:cs typeface="Canva Sans"/>
              <a:sym typeface="Canva Sans"/>
            </a:endParaRPr>
          </a:p>
          <a:p>
            <a:pPr algn="just">
              <a:lnSpc>
                <a:spcPts val="2972"/>
              </a:lnSpc>
              <a:spcBef>
                <a:spcPct val="0"/>
              </a:spcBef>
            </a:pPr>
            <a:endParaRPr lang="en-US" sz="2400">
              <a:solidFill>
                <a:srgbClr val="000000"/>
              </a:solidFill>
              <a:latin typeface="Canva Sans"/>
              <a:ea typeface="Canva Sans"/>
              <a:cs typeface="Canva Sans"/>
              <a:sym typeface="Canva Sans"/>
            </a:endParaRPr>
          </a:p>
        </p:txBody>
      </p:sp>
      <p:sp>
        <p:nvSpPr>
          <p:cNvPr id="17" name="AutoShape 17"/>
          <p:cNvSpPr/>
          <p:nvPr/>
        </p:nvSpPr>
        <p:spPr>
          <a:xfrm flipV="1">
            <a:off x="9279726" y="5734395"/>
            <a:ext cx="7404668" cy="57148"/>
          </a:xfrm>
          <a:prstGeom prst="line">
            <a:avLst/>
          </a:prstGeom>
          <a:ln w="114300" cap="flat">
            <a:solidFill>
              <a:srgbClr val="E9C7C6"/>
            </a:solidFill>
            <a:prstDash val="solid"/>
            <a:headEnd type="none" w="sm" len="sm"/>
            <a:tailEnd type="none" w="sm" len="sm"/>
          </a:ln>
        </p:spPr>
      </p:sp>
      <p:sp>
        <p:nvSpPr>
          <p:cNvPr id="18" name="AutoShape 18"/>
          <p:cNvSpPr/>
          <p:nvPr/>
        </p:nvSpPr>
        <p:spPr>
          <a:xfrm flipV="1">
            <a:off x="690111" y="5791543"/>
            <a:ext cx="7404668" cy="57148"/>
          </a:xfrm>
          <a:prstGeom prst="line">
            <a:avLst/>
          </a:prstGeom>
          <a:ln w="114300" cap="flat">
            <a:solidFill>
              <a:srgbClr val="E9C7C6"/>
            </a:solidFill>
            <a:prstDash val="solid"/>
            <a:headEnd type="none" w="sm" len="sm"/>
            <a:tailEnd type="none" w="sm" len="sm"/>
          </a:ln>
        </p:spPr>
      </p:sp>
      <p:sp>
        <p:nvSpPr>
          <p:cNvPr id="19" name="AutoShape 19"/>
          <p:cNvSpPr/>
          <p:nvPr/>
        </p:nvSpPr>
        <p:spPr>
          <a:xfrm>
            <a:off x="8636112" y="1977865"/>
            <a:ext cx="0" cy="7404888"/>
          </a:xfrm>
          <a:prstGeom prst="line">
            <a:avLst/>
          </a:prstGeom>
          <a:ln w="114300" cap="flat">
            <a:solidFill>
              <a:srgbClr val="E9C7C6"/>
            </a:solidFill>
            <a:prstDash val="solid"/>
            <a:headEnd type="none" w="sm" len="sm"/>
            <a:tailEnd type="none" w="sm" len="sm"/>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TextBox 2"/>
          <p:cNvSpPr txBox="1"/>
          <p:nvPr/>
        </p:nvSpPr>
        <p:spPr>
          <a:xfrm>
            <a:off x="1174741" y="247761"/>
            <a:ext cx="16230600" cy="1278884"/>
          </a:xfrm>
          <a:prstGeom prst="rect">
            <a:avLst/>
          </a:prstGeom>
        </p:spPr>
        <p:txBody>
          <a:bodyPr lIns="0" tIns="0" rIns="0" bIns="0" rtlCol="0" anchor="t">
            <a:spAutoFit/>
          </a:bodyPr>
          <a:lstStyle/>
          <a:p>
            <a:pPr algn="ctr">
              <a:lnSpc>
                <a:spcPts val="10360"/>
              </a:lnSpc>
            </a:pPr>
            <a:r>
              <a:rPr lang="en-US" sz="7400">
                <a:solidFill>
                  <a:srgbClr val="000000"/>
                </a:solidFill>
                <a:latin typeface="Girassol"/>
                <a:ea typeface="Girassol"/>
                <a:cs typeface="Girassol"/>
                <a:sym typeface="Girassol"/>
              </a:rPr>
              <a:t>FRONTEND IMPLEMENTATION</a:t>
            </a:r>
          </a:p>
        </p:txBody>
      </p:sp>
      <p:sp>
        <p:nvSpPr>
          <p:cNvPr id="3" name="TextBox 3"/>
          <p:cNvSpPr txBox="1"/>
          <p:nvPr/>
        </p:nvSpPr>
        <p:spPr>
          <a:xfrm>
            <a:off x="5702946" y="9518449"/>
            <a:ext cx="6882108" cy="464820"/>
          </a:xfrm>
          <a:prstGeom prst="rect">
            <a:avLst/>
          </a:prstGeom>
        </p:spPr>
        <p:txBody>
          <a:bodyPr lIns="0" tIns="0" rIns="0" bIns="0" rtlCol="0" anchor="t">
            <a:spAutoFit/>
          </a:bodyPr>
          <a:lstStyle/>
          <a:p>
            <a:pPr algn="ctr">
              <a:lnSpc>
                <a:spcPts val="3779"/>
              </a:lnSpc>
            </a:pPr>
            <a:r>
              <a:rPr lang="en-US" sz="2700">
                <a:solidFill>
                  <a:srgbClr val="000000"/>
                </a:solidFill>
                <a:latin typeface="Alatsi"/>
                <a:ea typeface="Alatsi"/>
                <a:cs typeface="Alatsi"/>
                <a:sym typeface="Alatsi"/>
              </a:rPr>
              <a:t>Infosys Springboard 5.0</a:t>
            </a:r>
          </a:p>
        </p:txBody>
      </p:sp>
      <p:sp>
        <p:nvSpPr>
          <p:cNvPr id="4" name="TextBox 4"/>
          <p:cNvSpPr txBox="1"/>
          <p:nvPr/>
        </p:nvSpPr>
        <p:spPr>
          <a:xfrm>
            <a:off x="9610725" y="1545696"/>
            <a:ext cx="7530658" cy="804545"/>
          </a:xfrm>
          <a:prstGeom prst="rect">
            <a:avLst/>
          </a:prstGeom>
        </p:spPr>
        <p:txBody>
          <a:bodyPr lIns="0" tIns="0" rIns="0" bIns="0" rtlCol="0" anchor="t">
            <a:spAutoFit/>
          </a:bodyPr>
          <a:lstStyle/>
          <a:p>
            <a:pPr algn="l">
              <a:lnSpc>
                <a:spcPts val="6580"/>
              </a:lnSpc>
            </a:pPr>
            <a:r>
              <a:rPr lang="en-US" sz="4700">
                <a:solidFill>
                  <a:srgbClr val="000000"/>
                </a:solidFill>
                <a:latin typeface="Girassol"/>
                <a:ea typeface="Girassol"/>
                <a:cs typeface="Girassol"/>
                <a:sym typeface="Girassol"/>
              </a:rPr>
              <a:t>Features:</a:t>
            </a:r>
          </a:p>
        </p:txBody>
      </p:sp>
      <p:sp>
        <p:nvSpPr>
          <p:cNvPr id="5" name="Freeform 5"/>
          <p:cNvSpPr/>
          <p:nvPr/>
        </p:nvSpPr>
        <p:spPr>
          <a:xfrm>
            <a:off x="13601700" y="8800030"/>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AutoShape 6"/>
          <p:cNvSpPr/>
          <p:nvPr/>
        </p:nvSpPr>
        <p:spPr>
          <a:xfrm>
            <a:off x="153" y="9760384"/>
            <a:ext cx="7105264" cy="19050"/>
          </a:xfrm>
          <a:prstGeom prst="line">
            <a:avLst/>
          </a:prstGeom>
          <a:ln w="114300" cap="flat">
            <a:solidFill>
              <a:srgbClr val="9FC3D0"/>
            </a:solidFill>
            <a:prstDash val="solid"/>
            <a:headEnd type="none" w="sm" len="sm"/>
            <a:tailEnd type="none" w="sm" len="sm"/>
          </a:ln>
        </p:spPr>
      </p:sp>
      <p:sp>
        <p:nvSpPr>
          <p:cNvPr id="7" name="AutoShape 7"/>
          <p:cNvSpPr/>
          <p:nvPr/>
        </p:nvSpPr>
        <p:spPr>
          <a:xfrm>
            <a:off x="11182583" y="9750859"/>
            <a:ext cx="7105264" cy="19050"/>
          </a:xfrm>
          <a:prstGeom prst="line">
            <a:avLst/>
          </a:prstGeom>
          <a:ln w="114300" cap="flat">
            <a:solidFill>
              <a:srgbClr val="9FC3D0"/>
            </a:solidFill>
            <a:prstDash val="solid"/>
            <a:headEnd type="none" w="sm" len="sm"/>
            <a:tailEnd type="none" w="sm" len="sm"/>
          </a:ln>
        </p:spPr>
      </p:sp>
      <p:grpSp>
        <p:nvGrpSpPr>
          <p:cNvPr id="8" name="Group 8"/>
          <p:cNvGrpSpPr/>
          <p:nvPr/>
        </p:nvGrpSpPr>
        <p:grpSpPr>
          <a:xfrm>
            <a:off x="16477994" y="0"/>
            <a:ext cx="1562612" cy="1673225"/>
            <a:chOff x="0" y="0"/>
            <a:chExt cx="2083482" cy="2230967"/>
          </a:xfrm>
        </p:grpSpPr>
        <p:grpSp>
          <p:nvGrpSpPr>
            <p:cNvPr id="9" name="Group 9"/>
            <p:cNvGrpSpPr/>
            <p:nvPr/>
          </p:nvGrpSpPr>
          <p:grpSpPr>
            <a:xfrm>
              <a:off x="75599" y="0"/>
              <a:ext cx="1932284" cy="2230967"/>
              <a:chOff x="0" y="0"/>
              <a:chExt cx="703982" cy="812800"/>
            </a:xfrm>
          </p:grpSpPr>
          <p:sp>
            <p:nvSpPr>
              <p:cNvPr id="10" name="Freeform 10"/>
              <p:cNvSpPr/>
              <p:nvPr/>
            </p:nvSpPr>
            <p:spPr>
              <a:xfrm>
                <a:off x="0" y="0"/>
                <a:ext cx="703982" cy="812800"/>
              </a:xfrm>
              <a:custGeom>
                <a:avLst/>
                <a:gdLst/>
                <a:ahLst/>
                <a:cxnLst/>
                <a:rect l="l" t="t" r="r" b="b"/>
                <a:pathLst>
                  <a:path w="703982" h="812800">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E9C7C6"/>
              </a:solidFill>
            </p:spPr>
          </p:sp>
          <p:sp>
            <p:nvSpPr>
              <p:cNvPr id="11" name="TextBox 11"/>
              <p:cNvSpPr txBox="1"/>
              <p:nvPr/>
            </p:nvSpPr>
            <p:spPr>
              <a:xfrm>
                <a:off x="0" y="-47625"/>
                <a:ext cx="703982" cy="733425"/>
              </a:xfrm>
              <a:prstGeom prst="rect">
                <a:avLst/>
              </a:prstGeom>
            </p:spPr>
            <p:txBody>
              <a:bodyPr lIns="50800" tIns="50800" rIns="50800" bIns="50800" rtlCol="0" anchor="ctr"/>
              <a:lstStyle/>
              <a:p>
                <a:pPr algn="ctr">
                  <a:lnSpc>
                    <a:spcPts val="2659"/>
                  </a:lnSpc>
                </a:pPr>
                <a:endParaRPr/>
              </a:p>
            </p:txBody>
          </p:sp>
        </p:grpSp>
        <p:sp>
          <p:nvSpPr>
            <p:cNvPr id="12" name="TextBox 12"/>
            <p:cNvSpPr txBox="1"/>
            <p:nvPr/>
          </p:nvSpPr>
          <p:spPr>
            <a:xfrm>
              <a:off x="0" y="437582"/>
              <a:ext cx="2083482" cy="1241504"/>
            </a:xfrm>
            <a:prstGeom prst="rect">
              <a:avLst/>
            </a:prstGeom>
          </p:spPr>
          <p:txBody>
            <a:bodyPr lIns="0" tIns="0" rIns="0" bIns="0" rtlCol="0" anchor="t">
              <a:spAutoFit/>
            </a:bodyPr>
            <a:lstStyle/>
            <a:p>
              <a:pPr algn="ctr">
                <a:lnSpc>
                  <a:spcPts val="7805"/>
                </a:lnSpc>
              </a:pPr>
              <a:r>
                <a:rPr lang="en-US" sz="5575" b="1">
                  <a:solidFill>
                    <a:srgbClr val="000000"/>
                  </a:solidFill>
                  <a:latin typeface="Open Sans Bold"/>
                  <a:ea typeface="Open Sans Bold"/>
                  <a:cs typeface="Open Sans Bold"/>
                  <a:sym typeface="Open Sans Bold"/>
                </a:rPr>
                <a:t>7</a:t>
              </a:r>
            </a:p>
          </p:txBody>
        </p:sp>
      </p:grpSp>
      <p:sp>
        <p:nvSpPr>
          <p:cNvPr id="13" name="Freeform 13"/>
          <p:cNvSpPr/>
          <p:nvPr/>
        </p:nvSpPr>
        <p:spPr>
          <a:xfrm>
            <a:off x="-3361308" y="-1072353"/>
            <a:ext cx="7315200" cy="2477783"/>
          </a:xfrm>
          <a:custGeom>
            <a:avLst/>
            <a:gdLst/>
            <a:ahLst/>
            <a:cxnLst/>
            <a:rect l="l" t="t" r="r" b="b"/>
            <a:pathLst>
              <a:path w="7315200" h="2477783">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4" name="AutoShape 14"/>
          <p:cNvSpPr/>
          <p:nvPr/>
        </p:nvSpPr>
        <p:spPr>
          <a:xfrm>
            <a:off x="9086850" y="1853412"/>
            <a:ext cx="0" cy="7404888"/>
          </a:xfrm>
          <a:prstGeom prst="line">
            <a:avLst/>
          </a:prstGeom>
          <a:ln w="114300" cap="flat">
            <a:solidFill>
              <a:srgbClr val="E9C7C6"/>
            </a:solidFill>
            <a:prstDash val="solid"/>
            <a:headEnd type="none" w="sm" len="sm"/>
            <a:tailEnd type="none" w="sm" len="sm"/>
          </a:ln>
        </p:spPr>
      </p:sp>
      <p:sp>
        <p:nvSpPr>
          <p:cNvPr id="15" name="Freeform 15"/>
          <p:cNvSpPr/>
          <p:nvPr/>
        </p:nvSpPr>
        <p:spPr>
          <a:xfrm>
            <a:off x="542131" y="3280596"/>
            <a:ext cx="3221485" cy="1083590"/>
          </a:xfrm>
          <a:custGeom>
            <a:avLst/>
            <a:gdLst/>
            <a:ahLst/>
            <a:cxnLst/>
            <a:rect l="l" t="t" r="r" b="b"/>
            <a:pathLst>
              <a:path w="3221485" h="1083590">
                <a:moveTo>
                  <a:pt x="0" y="0"/>
                </a:moveTo>
                <a:lnTo>
                  <a:pt x="3221485" y="0"/>
                </a:lnTo>
                <a:lnTo>
                  <a:pt x="3221485" y="1083590"/>
                </a:lnTo>
                <a:lnTo>
                  <a:pt x="0" y="108359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6" name="Freeform 16"/>
          <p:cNvSpPr/>
          <p:nvPr/>
        </p:nvSpPr>
        <p:spPr>
          <a:xfrm>
            <a:off x="4306541" y="2837330"/>
            <a:ext cx="1396405" cy="1970122"/>
          </a:xfrm>
          <a:custGeom>
            <a:avLst/>
            <a:gdLst/>
            <a:ahLst/>
            <a:cxnLst/>
            <a:rect l="l" t="t" r="r" b="b"/>
            <a:pathLst>
              <a:path w="1396405" h="1970122">
                <a:moveTo>
                  <a:pt x="0" y="0"/>
                </a:moveTo>
                <a:lnTo>
                  <a:pt x="1396405" y="0"/>
                </a:lnTo>
                <a:lnTo>
                  <a:pt x="1396405" y="1970122"/>
                </a:lnTo>
                <a:lnTo>
                  <a:pt x="0" y="1970122"/>
                </a:lnTo>
                <a:lnTo>
                  <a:pt x="0" y="0"/>
                </a:lnTo>
                <a:close/>
              </a:path>
            </a:pathLst>
          </a:custGeom>
          <a:blipFill>
            <a:blip r:embed="rId6"/>
            <a:stretch>
              <a:fillRect/>
            </a:stretch>
          </a:blipFill>
        </p:spPr>
      </p:sp>
      <p:sp>
        <p:nvSpPr>
          <p:cNvPr id="17" name="Freeform 17"/>
          <p:cNvSpPr/>
          <p:nvPr/>
        </p:nvSpPr>
        <p:spPr>
          <a:xfrm>
            <a:off x="6248360" y="2588365"/>
            <a:ext cx="2468051" cy="2468051"/>
          </a:xfrm>
          <a:custGeom>
            <a:avLst/>
            <a:gdLst/>
            <a:ahLst/>
            <a:cxnLst/>
            <a:rect l="l" t="t" r="r" b="b"/>
            <a:pathLst>
              <a:path w="2468051" h="2468051">
                <a:moveTo>
                  <a:pt x="0" y="0"/>
                </a:moveTo>
                <a:lnTo>
                  <a:pt x="2468051" y="0"/>
                </a:lnTo>
                <a:lnTo>
                  <a:pt x="2468051" y="2468051"/>
                </a:lnTo>
                <a:lnTo>
                  <a:pt x="0" y="2468051"/>
                </a:lnTo>
                <a:lnTo>
                  <a:pt x="0" y="0"/>
                </a:lnTo>
                <a:close/>
              </a:path>
            </a:pathLst>
          </a:custGeom>
          <a:blipFill>
            <a:blip r:embed="rId7"/>
            <a:stretch>
              <a:fillRect/>
            </a:stretch>
          </a:blipFill>
        </p:spPr>
      </p:sp>
      <p:sp>
        <p:nvSpPr>
          <p:cNvPr id="18" name="Freeform 18"/>
          <p:cNvSpPr/>
          <p:nvPr/>
        </p:nvSpPr>
        <p:spPr>
          <a:xfrm>
            <a:off x="1174741" y="5337061"/>
            <a:ext cx="1956266" cy="2411437"/>
          </a:xfrm>
          <a:custGeom>
            <a:avLst/>
            <a:gdLst/>
            <a:ahLst/>
            <a:cxnLst/>
            <a:rect l="l" t="t" r="r" b="b"/>
            <a:pathLst>
              <a:path w="1956266" h="2411437">
                <a:moveTo>
                  <a:pt x="0" y="0"/>
                </a:moveTo>
                <a:lnTo>
                  <a:pt x="1956266" y="0"/>
                </a:lnTo>
                <a:lnTo>
                  <a:pt x="1956266" y="2411437"/>
                </a:lnTo>
                <a:lnTo>
                  <a:pt x="0" y="2411437"/>
                </a:lnTo>
                <a:lnTo>
                  <a:pt x="0" y="0"/>
                </a:lnTo>
                <a:close/>
              </a:path>
            </a:pathLst>
          </a:custGeom>
          <a:blipFill>
            <a:blip r:embed="rId8"/>
            <a:stretch>
              <a:fillRect/>
            </a:stretch>
          </a:blipFill>
        </p:spPr>
      </p:sp>
      <p:sp>
        <p:nvSpPr>
          <p:cNvPr id="19" name="Freeform 19"/>
          <p:cNvSpPr/>
          <p:nvPr/>
        </p:nvSpPr>
        <p:spPr>
          <a:xfrm>
            <a:off x="3953892" y="5617705"/>
            <a:ext cx="3700296" cy="1850148"/>
          </a:xfrm>
          <a:custGeom>
            <a:avLst/>
            <a:gdLst/>
            <a:ahLst/>
            <a:cxnLst/>
            <a:rect l="l" t="t" r="r" b="b"/>
            <a:pathLst>
              <a:path w="3700296" h="1850148">
                <a:moveTo>
                  <a:pt x="0" y="0"/>
                </a:moveTo>
                <a:lnTo>
                  <a:pt x="3700296" y="0"/>
                </a:lnTo>
                <a:lnTo>
                  <a:pt x="3700296" y="1850148"/>
                </a:lnTo>
                <a:lnTo>
                  <a:pt x="0" y="1850148"/>
                </a:lnTo>
                <a:lnTo>
                  <a:pt x="0" y="0"/>
                </a:lnTo>
                <a:close/>
              </a:path>
            </a:pathLst>
          </a:custGeom>
          <a:blipFill>
            <a:blip r:embed="rId9"/>
            <a:stretch>
              <a:fillRect/>
            </a:stretch>
          </a:blipFill>
        </p:spPr>
      </p:sp>
      <p:sp>
        <p:nvSpPr>
          <p:cNvPr id="20" name="TextBox 20"/>
          <p:cNvSpPr txBox="1"/>
          <p:nvPr/>
        </p:nvSpPr>
        <p:spPr>
          <a:xfrm>
            <a:off x="1028700" y="1545696"/>
            <a:ext cx="7530658" cy="804545"/>
          </a:xfrm>
          <a:prstGeom prst="rect">
            <a:avLst/>
          </a:prstGeom>
        </p:spPr>
        <p:txBody>
          <a:bodyPr lIns="0" tIns="0" rIns="0" bIns="0" rtlCol="0" anchor="t">
            <a:spAutoFit/>
          </a:bodyPr>
          <a:lstStyle/>
          <a:p>
            <a:pPr algn="l">
              <a:lnSpc>
                <a:spcPts val="6580"/>
              </a:lnSpc>
            </a:pPr>
            <a:r>
              <a:rPr lang="en-US" sz="4700">
                <a:solidFill>
                  <a:srgbClr val="000000"/>
                </a:solidFill>
                <a:latin typeface="Girassol"/>
                <a:ea typeface="Girassol"/>
                <a:cs typeface="Girassol"/>
                <a:sym typeface="Girassol"/>
              </a:rPr>
              <a:t>Tech Stack Used:</a:t>
            </a:r>
          </a:p>
        </p:txBody>
      </p:sp>
      <p:sp>
        <p:nvSpPr>
          <p:cNvPr id="21" name="TextBox 21"/>
          <p:cNvSpPr txBox="1"/>
          <p:nvPr/>
        </p:nvSpPr>
        <p:spPr>
          <a:xfrm>
            <a:off x="9536388" y="2283565"/>
            <a:ext cx="4195862" cy="563880"/>
          </a:xfrm>
          <a:prstGeom prst="rect">
            <a:avLst/>
          </a:prstGeom>
        </p:spPr>
        <p:txBody>
          <a:bodyPr lIns="0" tIns="0" rIns="0" bIns="0" rtlCol="0" anchor="t">
            <a:spAutoFit/>
          </a:bodyPr>
          <a:lstStyle/>
          <a:p>
            <a:pPr marL="712467" lvl="1" indent="-356233" algn="ctr">
              <a:lnSpc>
                <a:spcPts val="4619"/>
              </a:lnSpc>
              <a:buFont typeface="Arial"/>
              <a:buChar char="•"/>
            </a:pPr>
            <a:r>
              <a:rPr lang="en-US" sz="3299">
                <a:solidFill>
                  <a:srgbClr val="000000"/>
                </a:solidFill>
                <a:latin typeface="Girassol"/>
                <a:ea typeface="Girassol"/>
                <a:cs typeface="Girassol"/>
                <a:sym typeface="Girassol"/>
              </a:rPr>
              <a:t> File Upload Feature</a:t>
            </a:r>
          </a:p>
        </p:txBody>
      </p:sp>
      <p:sp>
        <p:nvSpPr>
          <p:cNvPr id="22" name="TextBox 22"/>
          <p:cNvSpPr txBox="1"/>
          <p:nvPr/>
        </p:nvSpPr>
        <p:spPr>
          <a:xfrm>
            <a:off x="10158166" y="2834640"/>
            <a:ext cx="8129834" cy="976630"/>
          </a:xfrm>
          <a:prstGeom prst="rect">
            <a:avLst/>
          </a:prstGeom>
        </p:spPr>
        <p:txBody>
          <a:bodyPr lIns="0" tIns="0" rIns="0" bIns="0" rtlCol="0" anchor="t">
            <a:spAutoFit/>
          </a:bodyPr>
          <a:lstStyle/>
          <a:p>
            <a:pPr algn="l">
              <a:lnSpc>
                <a:spcPts val="3919"/>
              </a:lnSpc>
              <a:spcBef>
                <a:spcPct val="0"/>
              </a:spcBef>
            </a:pPr>
            <a:r>
              <a:rPr lang="en-US" sz="2799">
                <a:solidFill>
                  <a:srgbClr val="000000"/>
                </a:solidFill>
                <a:latin typeface="Canva Sans"/>
                <a:ea typeface="Canva Sans"/>
                <a:cs typeface="Canva Sans"/>
                <a:sym typeface="Canva Sans"/>
              </a:rPr>
              <a:t>Allows users to upload video files for object detection</a:t>
            </a:r>
            <a:r>
              <a:rPr lang="en-US" sz="2799" b="1">
                <a:solidFill>
                  <a:srgbClr val="000000"/>
                </a:solidFill>
                <a:latin typeface="Canva Sans Bold"/>
                <a:ea typeface="Canva Sans Bold"/>
                <a:cs typeface="Canva Sans Bold"/>
                <a:sym typeface="Canva Sans Bold"/>
              </a:rPr>
              <a:t>.</a:t>
            </a:r>
          </a:p>
        </p:txBody>
      </p:sp>
      <p:sp>
        <p:nvSpPr>
          <p:cNvPr id="23" name="TextBox 23"/>
          <p:cNvSpPr txBox="1"/>
          <p:nvPr/>
        </p:nvSpPr>
        <p:spPr>
          <a:xfrm>
            <a:off x="9610725" y="3792220"/>
            <a:ext cx="6502301" cy="563880"/>
          </a:xfrm>
          <a:prstGeom prst="rect">
            <a:avLst/>
          </a:prstGeom>
        </p:spPr>
        <p:txBody>
          <a:bodyPr lIns="0" tIns="0" rIns="0" bIns="0" rtlCol="0" anchor="t">
            <a:spAutoFit/>
          </a:bodyPr>
          <a:lstStyle/>
          <a:p>
            <a:pPr marL="712467" lvl="1" indent="-356233" algn="ctr">
              <a:lnSpc>
                <a:spcPts val="4619"/>
              </a:lnSpc>
              <a:buFont typeface="Arial"/>
              <a:buChar char="•"/>
            </a:pPr>
            <a:r>
              <a:rPr lang="en-US" sz="3299">
                <a:solidFill>
                  <a:srgbClr val="000000"/>
                </a:solidFill>
                <a:latin typeface="Girassol"/>
                <a:ea typeface="Girassol"/>
                <a:cs typeface="Girassol"/>
                <a:sym typeface="Girassol"/>
              </a:rPr>
              <a:t>Progressive Loading and Feedback</a:t>
            </a:r>
          </a:p>
        </p:txBody>
      </p:sp>
      <p:sp>
        <p:nvSpPr>
          <p:cNvPr id="24" name="TextBox 24"/>
          <p:cNvSpPr txBox="1"/>
          <p:nvPr/>
        </p:nvSpPr>
        <p:spPr>
          <a:xfrm>
            <a:off x="10157860" y="4221410"/>
            <a:ext cx="8130140" cy="1471930"/>
          </a:xfrm>
          <a:prstGeom prst="rect">
            <a:avLst/>
          </a:prstGeom>
        </p:spPr>
        <p:txBody>
          <a:bodyPr lIns="0" tIns="0" rIns="0" bIns="0" rtlCol="0" anchor="t">
            <a:spAutoFit/>
          </a:bodyPr>
          <a:lstStyle/>
          <a:p>
            <a:pPr algn="l">
              <a:lnSpc>
                <a:spcPts val="3919"/>
              </a:lnSpc>
              <a:spcBef>
                <a:spcPct val="0"/>
              </a:spcBef>
            </a:pPr>
            <a:r>
              <a:rPr lang="en-US" sz="2799">
                <a:solidFill>
                  <a:srgbClr val="000000"/>
                </a:solidFill>
                <a:latin typeface="Canva Sans"/>
                <a:ea typeface="Canva Sans"/>
                <a:cs typeface="Canva Sans"/>
                <a:sym typeface="Canva Sans"/>
              </a:rPr>
              <a:t>Displays a loading indicator and provides real-time feedback on upload and object detection progress.</a:t>
            </a:r>
          </a:p>
        </p:txBody>
      </p:sp>
      <p:sp>
        <p:nvSpPr>
          <p:cNvPr id="25" name="TextBox 25"/>
          <p:cNvSpPr txBox="1"/>
          <p:nvPr/>
        </p:nvSpPr>
        <p:spPr>
          <a:xfrm>
            <a:off x="9424293" y="5693904"/>
            <a:ext cx="7415907" cy="560987"/>
          </a:xfrm>
          <a:prstGeom prst="rect">
            <a:avLst/>
          </a:prstGeom>
        </p:spPr>
        <p:txBody>
          <a:bodyPr wrap="square" lIns="0" tIns="0" rIns="0" bIns="0" rtlCol="0" anchor="t">
            <a:spAutoFit/>
          </a:bodyPr>
          <a:lstStyle/>
          <a:p>
            <a:pPr marL="712467" lvl="1" indent="-356233" algn="ctr">
              <a:lnSpc>
                <a:spcPts val="4619"/>
              </a:lnSpc>
              <a:buFont typeface="Arial"/>
              <a:buChar char="•"/>
            </a:pPr>
            <a:r>
              <a:rPr lang="en-US" sz="3299" dirty="0">
                <a:solidFill>
                  <a:srgbClr val="000000"/>
                </a:solidFill>
                <a:latin typeface="Girassol"/>
                <a:ea typeface="Girassol"/>
                <a:cs typeface="Girassol"/>
                <a:sym typeface="Girassol"/>
              </a:rPr>
              <a:t>Image Display for Detection Results</a:t>
            </a:r>
          </a:p>
        </p:txBody>
      </p:sp>
      <p:sp>
        <p:nvSpPr>
          <p:cNvPr id="26" name="TextBox 26"/>
          <p:cNvSpPr txBox="1"/>
          <p:nvPr/>
        </p:nvSpPr>
        <p:spPr>
          <a:xfrm>
            <a:off x="10157860" y="6318450"/>
            <a:ext cx="7882746" cy="1468031"/>
          </a:xfrm>
          <a:prstGeom prst="rect">
            <a:avLst/>
          </a:prstGeom>
        </p:spPr>
        <p:txBody>
          <a:bodyPr lIns="0" tIns="0" rIns="0" bIns="0" rtlCol="0" anchor="t">
            <a:spAutoFit/>
          </a:bodyPr>
          <a:lstStyle/>
          <a:p>
            <a:pPr algn="l">
              <a:lnSpc>
                <a:spcPts val="3919"/>
              </a:lnSpc>
              <a:spcBef>
                <a:spcPct val="0"/>
              </a:spcBef>
            </a:pPr>
            <a:r>
              <a:rPr lang="en-US" sz="2799">
                <a:solidFill>
                  <a:srgbClr val="000000"/>
                </a:solidFill>
                <a:latin typeface="Canva Sans"/>
                <a:ea typeface="Canva Sans"/>
                <a:cs typeface="Canva Sans"/>
                <a:sym typeface="Canva Sans"/>
              </a:rPr>
              <a:t>After object detection, the frontend displays the output image with bounding boxes and labels for detected objects.</a:t>
            </a:r>
            <a:endParaRPr lang="en-US" sz="2799" dirty="0">
              <a:solidFill>
                <a:srgbClr val="000000"/>
              </a:solidFill>
              <a:latin typeface="Canva Sans"/>
              <a:ea typeface="Canva Sans"/>
              <a:cs typeface="Canva Sans"/>
              <a:sym typeface="Canva Sans"/>
            </a:endParaRPr>
          </a:p>
        </p:txBody>
      </p:sp>
      <p:sp>
        <p:nvSpPr>
          <p:cNvPr id="27" name="TextBox 27"/>
          <p:cNvSpPr txBox="1"/>
          <p:nvPr/>
        </p:nvSpPr>
        <p:spPr>
          <a:xfrm>
            <a:off x="9610725" y="7723705"/>
            <a:ext cx="5209580" cy="563880"/>
          </a:xfrm>
          <a:prstGeom prst="rect">
            <a:avLst/>
          </a:prstGeom>
        </p:spPr>
        <p:txBody>
          <a:bodyPr lIns="0" tIns="0" rIns="0" bIns="0" rtlCol="0" anchor="t">
            <a:spAutoFit/>
          </a:bodyPr>
          <a:lstStyle/>
          <a:p>
            <a:pPr marL="712467" lvl="1" indent="-356233" algn="ctr">
              <a:lnSpc>
                <a:spcPts val="4619"/>
              </a:lnSpc>
              <a:buFont typeface="Arial"/>
              <a:buChar char="•"/>
            </a:pPr>
            <a:r>
              <a:rPr lang="en-US" sz="3299">
                <a:solidFill>
                  <a:srgbClr val="000000"/>
                </a:solidFill>
                <a:latin typeface="Girassol"/>
                <a:ea typeface="Girassol"/>
                <a:cs typeface="Girassol"/>
                <a:sym typeface="Girassol"/>
              </a:rPr>
              <a:t>Download Processed Video</a:t>
            </a:r>
          </a:p>
        </p:txBody>
      </p:sp>
      <p:sp>
        <p:nvSpPr>
          <p:cNvPr id="28" name="TextBox 28"/>
          <p:cNvSpPr txBox="1"/>
          <p:nvPr/>
        </p:nvSpPr>
        <p:spPr>
          <a:xfrm>
            <a:off x="10158166" y="8281670"/>
            <a:ext cx="8129834" cy="976630"/>
          </a:xfrm>
          <a:prstGeom prst="rect">
            <a:avLst/>
          </a:prstGeom>
        </p:spPr>
        <p:txBody>
          <a:bodyPr lIns="0" tIns="0" rIns="0" bIns="0" rtlCol="0" anchor="t">
            <a:spAutoFit/>
          </a:bodyPr>
          <a:lstStyle/>
          <a:p>
            <a:pPr algn="l">
              <a:lnSpc>
                <a:spcPts val="3919"/>
              </a:lnSpc>
              <a:spcBef>
                <a:spcPct val="0"/>
              </a:spcBef>
            </a:pPr>
            <a:r>
              <a:rPr lang="en-US" sz="2799">
                <a:solidFill>
                  <a:srgbClr val="000000"/>
                </a:solidFill>
                <a:latin typeface="Canva Sans"/>
                <a:ea typeface="Canva Sans"/>
                <a:cs typeface="Canva Sans"/>
                <a:sym typeface="Canva Sans"/>
              </a:rPr>
              <a:t>After processing, a download link for the video with detected objects and labels is provided.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TextBox 2"/>
          <p:cNvSpPr txBox="1"/>
          <p:nvPr/>
        </p:nvSpPr>
        <p:spPr>
          <a:xfrm>
            <a:off x="5702946" y="9517029"/>
            <a:ext cx="6882108" cy="464820"/>
          </a:xfrm>
          <a:prstGeom prst="rect">
            <a:avLst/>
          </a:prstGeom>
        </p:spPr>
        <p:txBody>
          <a:bodyPr lIns="0" tIns="0" rIns="0" bIns="0" rtlCol="0" anchor="t">
            <a:spAutoFit/>
          </a:bodyPr>
          <a:lstStyle/>
          <a:p>
            <a:pPr algn="ctr">
              <a:lnSpc>
                <a:spcPts val="3779"/>
              </a:lnSpc>
            </a:pPr>
            <a:r>
              <a:rPr lang="en-US" sz="2700">
                <a:solidFill>
                  <a:srgbClr val="000000"/>
                </a:solidFill>
                <a:latin typeface="Alatsi"/>
                <a:ea typeface="Alatsi"/>
                <a:cs typeface="Alatsi"/>
                <a:sym typeface="Alatsi"/>
              </a:rPr>
              <a:t>Larana University | 2024</a:t>
            </a:r>
          </a:p>
        </p:txBody>
      </p:sp>
      <p:sp>
        <p:nvSpPr>
          <p:cNvPr id="3" name="AutoShape 3"/>
          <p:cNvSpPr/>
          <p:nvPr/>
        </p:nvSpPr>
        <p:spPr>
          <a:xfrm>
            <a:off x="153" y="9778014"/>
            <a:ext cx="7105264" cy="19050"/>
          </a:xfrm>
          <a:prstGeom prst="line">
            <a:avLst/>
          </a:prstGeom>
          <a:ln w="114300" cap="flat">
            <a:solidFill>
              <a:srgbClr val="9FC3D0"/>
            </a:solidFill>
            <a:prstDash val="solid"/>
            <a:headEnd type="none" w="sm" len="sm"/>
            <a:tailEnd type="none" w="sm" len="sm"/>
          </a:ln>
        </p:spPr>
      </p:sp>
      <p:sp>
        <p:nvSpPr>
          <p:cNvPr id="4" name="AutoShape 4"/>
          <p:cNvSpPr/>
          <p:nvPr/>
        </p:nvSpPr>
        <p:spPr>
          <a:xfrm>
            <a:off x="11280509" y="9787539"/>
            <a:ext cx="7105264" cy="19050"/>
          </a:xfrm>
          <a:prstGeom prst="line">
            <a:avLst/>
          </a:prstGeom>
          <a:ln w="114300" cap="flat">
            <a:solidFill>
              <a:srgbClr val="9FC3D0"/>
            </a:solidFill>
            <a:prstDash val="solid"/>
            <a:headEnd type="none" w="sm" len="sm"/>
            <a:tailEnd type="none" w="sm" len="sm"/>
          </a:ln>
        </p:spPr>
      </p:sp>
      <p:sp>
        <p:nvSpPr>
          <p:cNvPr id="5" name="Freeform 5"/>
          <p:cNvSpPr/>
          <p:nvPr/>
        </p:nvSpPr>
        <p:spPr>
          <a:xfrm>
            <a:off x="13601700" y="7504065"/>
            <a:ext cx="7315200" cy="2477783"/>
          </a:xfrm>
          <a:custGeom>
            <a:avLst/>
            <a:gdLst/>
            <a:ahLst/>
            <a:cxnLst/>
            <a:rect l="l" t="t" r="r" b="b"/>
            <a:pathLst>
              <a:path w="7315200" h="2477783">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p:nvPr/>
        </p:nvGrpSpPr>
        <p:grpSpPr>
          <a:xfrm>
            <a:off x="15859155" y="0"/>
            <a:ext cx="1562612" cy="1673225"/>
            <a:chOff x="0" y="0"/>
            <a:chExt cx="2083482" cy="2230967"/>
          </a:xfrm>
        </p:grpSpPr>
        <p:grpSp>
          <p:nvGrpSpPr>
            <p:cNvPr id="7" name="Group 7"/>
            <p:cNvGrpSpPr/>
            <p:nvPr/>
          </p:nvGrpSpPr>
          <p:grpSpPr>
            <a:xfrm>
              <a:off x="75599" y="0"/>
              <a:ext cx="1932284" cy="2230967"/>
              <a:chOff x="0" y="0"/>
              <a:chExt cx="703982" cy="812800"/>
            </a:xfrm>
          </p:grpSpPr>
          <p:sp>
            <p:nvSpPr>
              <p:cNvPr id="8" name="Freeform 8"/>
              <p:cNvSpPr/>
              <p:nvPr/>
            </p:nvSpPr>
            <p:spPr>
              <a:xfrm>
                <a:off x="0" y="0"/>
                <a:ext cx="703982" cy="812800"/>
              </a:xfrm>
              <a:custGeom>
                <a:avLst/>
                <a:gdLst/>
                <a:ahLst/>
                <a:cxnLst/>
                <a:rect l="l" t="t" r="r" b="b"/>
                <a:pathLst>
                  <a:path w="703982" h="812800">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E9C7C6"/>
              </a:solidFill>
            </p:spPr>
          </p:sp>
          <p:sp>
            <p:nvSpPr>
              <p:cNvPr id="9" name="TextBox 9"/>
              <p:cNvSpPr txBox="1"/>
              <p:nvPr/>
            </p:nvSpPr>
            <p:spPr>
              <a:xfrm>
                <a:off x="0" y="-47625"/>
                <a:ext cx="703982" cy="733425"/>
              </a:xfrm>
              <a:prstGeom prst="rect">
                <a:avLst/>
              </a:prstGeom>
            </p:spPr>
            <p:txBody>
              <a:bodyPr lIns="50800" tIns="50800" rIns="50800" bIns="50800" rtlCol="0" anchor="ctr"/>
              <a:lstStyle/>
              <a:p>
                <a:pPr algn="ctr">
                  <a:lnSpc>
                    <a:spcPts val="2659"/>
                  </a:lnSpc>
                </a:pPr>
                <a:endParaRPr/>
              </a:p>
            </p:txBody>
          </p:sp>
        </p:grpSp>
        <p:sp>
          <p:nvSpPr>
            <p:cNvPr id="10" name="TextBox 10"/>
            <p:cNvSpPr txBox="1"/>
            <p:nvPr/>
          </p:nvSpPr>
          <p:spPr>
            <a:xfrm>
              <a:off x="0" y="437582"/>
              <a:ext cx="2083482" cy="1241504"/>
            </a:xfrm>
            <a:prstGeom prst="rect">
              <a:avLst/>
            </a:prstGeom>
          </p:spPr>
          <p:txBody>
            <a:bodyPr lIns="0" tIns="0" rIns="0" bIns="0" rtlCol="0" anchor="t">
              <a:spAutoFit/>
            </a:bodyPr>
            <a:lstStyle/>
            <a:p>
              <a:pPr algn="ctr">
                <a:lnSpc>
                  <a:spcPts val="7805"/>
                </a:lnSpc>
              </a:pPr>
              <a:r>
                <a:rPr lang="en-US" sz="5575" b="1">
                  <a:solidFill>
                    <a:srgbClr val="000000"/>
                  </a:solidFill>
                  <a:latin typeface="Open Sans Bold"/>
                  <a:ea typeface="Open Sans Bold"/>
                  <a:cs typeface="Open Sans Bold"/>
                  <a:sym typeface="Open Sans Bold"/>
                </a:rPr>
                <a:t>8</a:t>
              </a:r>
            </a:p>
          </p:txBody>
        </p:sp>
      </p:grpSp>
      <p:sp>
        <p:nvSpPr>
          <p:cNvPr id="11" name="TextBox 11"/>
          <p:cNvSpPr txBox="1"/>
          <p:nvPr/>
        </p:nvSpPr>
        <p:spPr>
          <a:xfrm>
            <a:off x="3679044" y="866775"/>
            <a:ext cx="10929913" cy="1450976"/>
          </a:xfrm>
          <a:prstGeom prst="rect">
            <a:avLst/>
          </a:prstGeom>
        </p:spPr>
        <p:txBody>
          <a:bodyPr lIns="0" tIns="0" rIns="0" bIns="0" rtlCol="0" anchor="t">
            <a:spAutoFit/>
          </a:bodyPr>
          <a:lstStyle/>
          <a:p>
            <a:pPr algn="ctr">
              <a:lnSpc>
                <a:spcPts val="11899"/>
              </a:lnSpc>
            </a:pPr>
            <a:r>
              <a:rPr lang="en-US" sz="8499">
                <a:solidFill>
                  <a:srgbClr val="000000"/>
                </a:solidFill>
                <a:latin typeface="Girassol"/>
                <a:ea typeface="Girassol"/>
                <a:cs typeface="Girassol"/>
                <a:sym typeface="Girassol"/>
              </a:rPr>
              <a:t>CONCLUSION</a:t>
            </a:r>
          </a:p>
        </p:txBody>
      </p:sp>
      <p:sp>
        <p:nvSpPr>
          <p:cNvPr id="12" name="TextBox 12"/>
          <p:cNvSpPr txBox="1"/>
          <p:nvPr/>
        </p:nvSpPr>
        <p:spPr>
          <a:xfrm>
            <a:off x="1617937" y="2260601"/>
            <a:ext cx="14241218" cy="6157595"/>
          </a:xfrm>
          <a:prstGeom prst="rect">
            <a:avLst/>
          </a:prstGeom>
        </p:spPr>
        <p:txBody>
          <a:bodyPr lIns="0" tIns="0" rIns="0" bIns="0" rtlCol="0" anchor="t">
            <a:spAutoFit/>
          </a:bodyPr>
          <a:lstStyle/>
          <a:p>
            <a:pPr algn="l">
              <a:lnSpc>
                <a:spcPts val="4480"/>
              </a:lnSpc>
            </a:pPr>
            <a:r>
              <a:rPr lang="en-US" sz="3200">
                <a:solidFill>
                  <a:srgbClr val="000000"/>
                </a:solidFill>
                <a:latin typeface="Canva Sans"/>
                <a:ea typeface="Canva Sans"/>
                <a:cs typeface="Canva Sans"/>
                <a:sym typeface="Canva Sans"/>
              </a:rPr>
              <a:t>In conclusion, this project showcases the immense potential of object tracking in surveillance videos, harnessing cutting-edge computer vision techniques such as YOLO and optical flow. It demonstrates how these technologies can provide real-time, efficient, and scalable solutions in ever-evolving environments.</a:t>
            </a:r>
          </a:p>
          <a:p>
            <a:pPr algn="l">
              <a:lnSpc>
                <a:spcPts val="4480"/>
              </a:lnSpc>
            </a:pPr>
            <a:endParaRPr lang="en-US" sz="3200">
              <a:solidFill>
                <a:srgbClr val="000000"/>
              </a:solidFill>
              <a:latin typeface="Canva Sans"/>
              <a:ea typeface="Canva Sans"/>
              <a:cs typeface="Canva Sans"/>
              <a:sym typeface="Canva Sans"/>
            </a:endParaRPr>
          </a:p>
          <a:p>
            <a:pPr algn="l">
              <a:lnSpc>
                <a:spcPts val="4480"/>
              </a:lnSpc>
            </a:pPr>
            <a:r>
              <a:rPr lang="en-US" sz="3200">
                <a:solidFill>
                  <a:srgbClr val="000000"/>
                </a:solidFill>
                <a:latin typeface="Canva Sans"/>
                <a:ea typeface="Canva Sans"/>
                <a:cs typeface="Canva Sans"/>
                <a:sym typeface="Canva Sans"/>
              </a:rPr>
              <a:t> The scope of this work goes beyond surveillance, with promising applications in fields like traffic management, sports analytics, and robotics. As AI and edge computing continue to advance, we can expect these systems to drive further innovation in automation, decision-making, and safety, ultimately shaping the future of various industries.</a:t>
            </a:r>
          </a:p>
        </p:txBody>
      </p:sp>
      <p:sp>
        <p:nvSpPr>
          <p:cNvPr id="13" name="Freeform 13"/>
          <p:cNvSpPr/>
          <p:nvPr/>
        </p:nvSpPr>
        <p:spPr>
          <a:xfrm>
            <a:off x="-3009325" y="-402279"/>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TextBox 2"/>
          <p:cNvSpPr txBox="1"/>
          <p:nvPr/>
        </p:nvSpPr>
        <p:spPr>
          <a:xfrm>
            <a:off x="4554977" y="3748035"/>
            <a:ext cx="11627497" cy="2514704"/>
          </a:xfrm>
          <a:prstGeom prst="rect">
            <a:avLst/>
          </a:prstGeom>
        </p:spPr>
        <p:txBody>
          <a:bodyPr lIns="0" tIns="0" rIns="0" bIns="0" rtlCol="0" anchor="t">
            <a:spAutoFit/>
          </a:bodyPr>
          <a:lstStyle/>
          <a:p>
            <a:pPr algn="ctr">
              <a:lnSpc>
                <a:spcPts val="20573"/>
              </a:lnSpc>
            </a:pPr>
            <a:r>
              <a:rPr lang="en-US" sz="14695">
                <a:solidFill>
                  <a:srgbClr val="000000"/>
                </a:solidFill>
                <a:latin typeface="Alatsi"/>
                <a:ea typeface="Alatsi"/>
                <a:cs typeface="Alatsi"/>
                <a:sym typeface="Alatsi"/>
              </a:rPr>
              <a:t>THANK YOU</a:t>
            </a:r>
          </a:p>
        </p:txBody>
      </p:sp>
      <p:sp>
        <p:nvSpPr>
          <p:cNvPr id="3" name="TextBox 3"/>
          <p:cNvSpPr txBox="1"/>
          <p:nvPr/>
        </p:nvSpPr>
        <p:spPr>
          <a:xfrm>
            <a:off x="6927671" y="2919461"/>
            <a:ext cx="6882108" cy="533299"/>
          </a:xfrm>
          <a:prstGeom prst="rect">
            <a:avLst/>
          </a:prstGeom>
        </p:spPr>
        <p:txBody>
          <a:bodyPr lIns="0" tIns="0" rIns="0" bIns="0" rtlCol="0" anchor="t">
            <a:spAutoFit/>
          </a:bodyPr>
          <a:lstStyle/>
          <a:p>
            <a:pPr algn="ctr">
              <a:lnSpc>
                <a:spcPts val="4376"/>
              </a:lnSpc>
            </a:pPr>
            <a:r>
              <a:rPr lang="en-US" sz="3126">
                <a:solidFill>
                  <a:srgbClr val="000000"/>
                </a:solidFill>
                <a:latin typeface="Alatsi"/>
                <a:ea typeface="Alatsi"/>
                <a:cs typeface="Alatsi"/>
                <a:sym typeface="Alatsi"/>
              </a:rPr>
              <a:t>Infosys Springboard 5.0</a:t>
            </a:r>
          </a:p>
        </p:txBody>
      </p:sp>
      <p:grpSp>
        <p:nvGrpSpPr>
          <p:cNvPr id="4" name="Group 4"/>
          <p:cNvGrpSpPr/>
          <p:nvPr/>
        </p:nvGrpSpPr>
        <p:grpSpPr>
          <a:xfrm>
            <a:off x="-31071" y="0"/>
            <a:ext cx="4239083" cy="10287000"/>
            <a:chOff x="0" y="0"/>
            <a:chExt cx="5652111" cy="13716000"/>
          </a:xfrm>
        </p:grpSpPr>
        <p:grpSp>
          <p:nvGrpSpPr>
            <p:cNvPr id="5" name="Group 5"/>
            <p:cNvGrpSpPr/>
            <p:nvPr/>
          </p:nvGrpSpPr>
          <p:grpSpPr>
            <a:xfrm>
              <a:off x="2826056" y="0"/>
              <a:ext cx="2826056" cy="13716000"/>
              <a:chOff x="0" y="0"/>
              <a:chExt cx="558233" cy="2709333"/>
            </a:xfrm>
          </p:grpSpPr>
          <p:sp>
            <p:nvSpPr>
              <p:cNvPr id="6" name="Freeform 6"/>
              <p:cNvSpPr/>
              <p:nvPr/>
            </p:nvSpPr>
            <p:spPr>
              <a:xfrm>
                <a:off x="0" y="0"/>
                <a:ext cx="558233" cy="2709333"/>
              </a:xfrm>
              <a:custGeom>
                <a:avLst/>
                <a:gdLst/>
                <a:ahLst/>
                <a:cxnLst/>
                <a:rect l="l" t="t" r="r" b="b"/>
                <a:pathLst>
                  <a:path w="558233" h="2709333">
                    <a:moveTo>
                      <a:pt x="0" y="0"/>
                    </a:moveTo>
                    <a:lnTo>
                      <a:pt x="558233" y="0"/>
                    </a:lnTo>
                    <a:lnTo>
                      <a:pt x="558233" y="2709333"/>
                    </a:lnTo>
                    <a:lnTo>
                      <a:pt x="0" y="2709333"/>
                    </a:lnTo>
                    <a:close/>
                  </a:path>
                </a:pathLst>
              </a:custGeom>
              <a:solidFill>
                <a:srgbClr val="E9E0D9"/>
              </a:solidFill>
            </p:spPr>
          </p:sp>
          <p:sp>
            <p:nvSpPr>
              <p:cNvPr id="7" name="TextBox 7"/>
              <p:cNvSpPr txBox="1"/>
              <p:nvPr/>
            </p:nvSpPr>
            <p:spPr>
              <a:xfrm>
                <a:off x="0" y="-47625"/>
                <a:ext cx="558233" cy="2756958"/>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1413028" y="0"/>
              <a:ext cx="2826056" cy="13716000"/>
              <a:chOff x="0" y="0"/>
              <a:chExt cx="558233" cy="2709333"/>
            </a:xfrm>
          </p:grpSpPr>
          <p:sp>
            <p:nvSpPr>
              <p:cNvPr id="9" name="Freeform 9"/>
              <p:cNvSpPr/>
              <p:nvPr/>
            </p:nvSpPr>
            <p:spPr>
              <a:xfrm>
                <a:off x="0" y="0"/>
                <a:ext cx="558233" cy="2709333"/>
              </a:xfrm>
              <a:custGeom>
                <a:avLst/>
                <a:gdLst/>
                <a:ahLst/>
                <a:cxnLst/>
                <a:rect l="l" t="t" r="r" b="b"/>
                <a:pathLst>
                  <a:path w="558233" h="2709333">
                    <a:moveTo>
                      <a:pt x="0" y="0"/>
                    </a:moveTo>
                    <a:lnTo>
                      <a:pt x="558233" y="0"/>
                    </a:lnTo>
                    <a:lnTo>
                      <a:pt x="558233" y="2709333"/>
                    </a:lnTo>
                    <a:lnTo>
                      <a:pt x="0" y="2709333"/>
                    </a:lnTo>
                    <a:close/>
                  </a:path>
                </a:pathLst>
              </a:custGeom>
              <a:solidFill>
                <a:srgbClr val="9FC3D0"/>
              </a:solidFill>
            </p:spPr>
          </p:sp>
          <p:sp>
            <p:nvSpPr>
              <p:cNvPr id="10" name="TextBox 10"/>
              <p:cNvSpPr txBox="1"/>
              <p:nvPr/>
            </p:nvSpPr>
            <p:spPr>
              <a:xfrm>
                <a:off x="0" y="-47625"/>
                <a:ext cx="558233" cy="2756958"/>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0" y="0"/>
              <a:ext cx="2826056" cy="13716000"/>
              <a:chOff x="0" y="0"/>
              <a:chExt cx="558233" cy="2709333"/>
            </a:xfrm>
          </p:grpSpPr>
          <p:sp>
            <p:nvSpPr>
              <p:cNvPr id="12" name="Freeform 12"/>
              <p:cNvSpPr/>
              <p:nvPr/>
            </p:nvSpPr>
            <p:spPr>
              <a:xfrm>
                <a:off x="0" y="0"/>
                <a:ext cx="558233" cy="2709333"/>
              </a:xfrm>
              <a:custGeom>
                <a:avLst/>
                <a:gdLst/>
                <a:ahLst/>
                <a:cxnLst/>
                <a:rect l="l" t="t" r="r" b="b"/>
                <a:pathLst>
                  <a:path w="558233" h="2709333">
                    <a:moveTo>
                      <a:pt x="0" y="0"/>
                    </a:moveTo>
                    <a:lnTo>
                      <a:pt x="558233" y="0"/>
                    </a:lnTo>
                    <a:lnTo>
                      <a:pt x="558233" y="2709333"/>
                    </a:lnTo>
                    <a:lnTo>
                      <a:pt x="0" y="2709333"/>
                    </a:lnTo>
                    <a:close/>
                  </a:path>
                </a:pathLst>
              </a:custGeom>
              <a:solidFill>
                <a:srgbClr val="E9C7C6"/>
              </a:solidFill>
            </p:spPr>
          </p:sp>
          <p:sp>
            <p:nvSpPr>
              <p:cNvPr id="13" name="TextBox 13"/>
              <p:cNvSpPr txBox="1"/>
              <p:nvPr/>
            </p:nvSpPr>
            <p:spPr>
              <a:xfrm>
                <a:off x="0" y="-47625"/>
                <a:ext cx="558233" cy="2756958"/>
              </a:xfrm>
              <a:prstGeom prst="rect">
                <a:avLst/>
              </a:prstGeom>
            </p:spPr>
            <p:txBody>
              <a:bodyPr lIns="50800" tIns="50800" rIns="50800" bIns="50800" rtlCol="0" anchor="ctr"/>
              <a:lstStyle/>
              <a:p>
                <a:pPr algn="ctr">
                  <a:lnSpc>
                    <a:spcPts val="2659"/>
                  </a:lnSpc>
                </a:pPr>
                <a:endParaRPr/>
              </a:p>
            </p:txBody>
          </p:sp>
        </p:grpSp>
      </p:grpSp>
      <p:sp>
        <p:nvSpPr>
          <p:cNvPr id="14" name="Freeform 14"/>
          <p:cNvSpPr/>
          <p:nvPr/>
        </p:nvSpPr>
        <p:spPr>
          <a:xfrm>
            <a:off x="12412831" y="8026211"/>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5" name="Freeform 15"/>
          <p:cNvSpPr/>
          <p:nvPr/>
        </p:nvSpPr>
        <p:spPr>
          <a:xfrm>
            <a:off x="11413653" y="-573693"/>
            <a:ext cx="7315200" cy="2477783"/>
          </a:xfrm>
          <a:custGeom>
            <a:avLst/>
            <a:gdLst/>
            <a:ahLst/>
            <a:cxnLst/>
            <a:rect l="l" t="t" r="r" b="b"/>
            <a:pathLst>
              <a:path w="7315200" h="2477783">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775</Words>
  <Application>Microsoft Office PowerPoint</Application>
  <PresentationFormat>Custom</PresentationFormat>
  <Paragraphs>94</Paragraphs>
  <Slides>9</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9</vt:i4>
      </vt:variant>
    </vt:vector>
  </HeadingPairs>
  <TitlesOfParts>
    <vt:vector size="20" baseType="lpstr">
      <vt:lpstr>Libre Baskerville</vt:lpstr>
      <vt:lpstr>Canva Sans</vt:lpstr>
      <vt:lpstr>Abhaya Libre Bold</vt:lpstr>
      <vt:lpstr>Canva Sans Bold</vt:lpstr>
      <vt:lpstr>Open Sans Bold</vt:lpstr>
      <vt:lpstr>Arial</vt:lpstr>
      <vt:lpstr>Abhaya Libre</vt:lpstr>
      <vt:lpstr>Girassol</vt:lpstr>
      <vt:lpstr>Alatsi</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Beige Pastel Minimalist Thesis Defense Presentation</dc:title>
  <cp:lastModifiedBy>Shivshankar Kumar</cp:lastModifiedBy>
  <cp:revision>4</cp:revision>
  <dcterms:created xsi:type="dcterms:W3CDTF">2006-08-16T00:00:00Z</dcterms:created>
  <dcterms:modified xsi:type="dcterms:W3CDTF">2025-02-07T07:43:57Z</dcterms:modified>
  <dc:identifier>DAGeZYfwji0</dc:identifier>
</cp:coreProperties>
</file>